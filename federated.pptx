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9" r:id="rId2"/>
    <p:sldId id="296" r:id="rId3"/>
    <p:sldId id="297" r:id="rId4"/>
    <p:sldId id="256" r:id="rId5"/>
    <p:sldId id="2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8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9225D-82AC-4D8E-99AB-BFAB8D1BA0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9BC26-DB3B-45F7-B4B4-7308514B0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19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4dd575e38_2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44dd575e38_2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44dd575e38_2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g344dd575e38_2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000"/>
              <a:buFont typeface="Arial"/>
              <a:buNone/>
            </a:pPr>
            <a:r>
              <a:rPr lang="en-GB" sz="4000" b="0" i="1">
                <a:solidFill>
                  <a:srgbClr val="F8FAFF"/>
                </a:solidFill>
                <a:latin typeface="Arial"/>
                <a:ea typeface="Arial"/>
                <a:cs typeface="Arial"/>
                <a:sym typeface="Arial"/>
              </a:rPr>
              <a:t>"Each device: </a:t>
            </a:r>
            <a:r>
              <a:rPr lang="en-GB" sz="2000" b="0" i="1" u="none" strike="noStrike" cap="none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Arduino MKR WAN 1310 (</a:t>
            </a:r>
            <a:r>
              <a:rPr lang="en-GB" sz="3200" b="0" i="1">
                <a:solidFill>
                  <a:srgbClr val="F8FAFF"/>
                </a:solidFill>
                <a:latin typeface="Arial"/>
                <a:ea typeface="Arial"/>
                <a:cs typeface="Arial"/>
                <a:sym typeface="Arial"/>
              </a:rPr>
              <a:t>LoRa radio</a:t>
            </a:r>
            <a:r>
              <a:rPr lang="en-GB" sz="2000" b="0" i="1" u="none" strike="noStrike" cap="none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), Sensirion SPS30 (Particulate Matter), Sensirion SCD41 (CO₂, Temperature, Humidity), Adafruit BME280 (Barometric Pressure).</a:t>
            </a:r>
            <a:endParaRPr sz="1600" b="0" i="1" u="none" strike="noStrike" cap="none">
              <a:solidFill>
                <a:srgbClr val="0038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Gateway: </a:t>
            </a:r>
            <a:r>
              <a:rPr lang="en-GB" sz="2000" b="0" i="1" u="none" strike="noStrike" cap="none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Kerlink indoor gateway.</a:t>
            </a:r>
            <a:endParaRPr/>
          </a:p>
        </p:txBody>
      </p:sp>
      <p:sp>
        <p:nvSpPr>
          <p:cNvPr id="465" name="Google Shape;465;g344dd575e38_2_3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C984-256C-0998-6085-EBF669B5F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1C317-5841-9E9B-A6FF-8C6C2B300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51348-ABFF-1E20-EEFE-9AABD412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13F0F-3E95-A3D1-21D1-24CDFB39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37C5F-23FC-C2B8-0585-71DDF54E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6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7FA2-7FBA-7284-061B-93E7E292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16B02-D2C2-4051-5A9A-A7E537C08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774E5-E075-2B34-0722-4ED0811E2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D9FA3-BBA1-809A-3B8D-D160B366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A7452-F479-FE9D-FBD0-BC95307B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1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B3AE8-261A-7210-F916-0AFD926C3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AC4B7-B710-8FC0-9E9B-DA759BE26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0D9DF-9C50-9746-281A-7803BB08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162C7-8897-D1A7-AA53-DB615C2A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DD8E5-9CC6-28D9-3A0B-177E4084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5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0896-E532-94C7-038D-D4578023F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C54A-5864-69A9-EBB1-D12229D77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5CFC9-0C9D-A55C-A751-D5C8C7C94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86C21-0C17-1D16-758C-43318CF7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1A593-05BB-7580-AFB9-666EA8DD0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8FC9C-A183-42C6-D577-A2C8778E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0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74F6-AFED-7182-991D-B08D5E7A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165B0-5E53-D22B-F453-33863003C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FE151-7C8C-00D7-283E-366A8A895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93B5C-C794-2DEC-EABD-0DEF8B5EB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A03988-5DB8-6132-A821-5520A9CAA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E58605-E753-989D-DDC3-3044F511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A37799-CA5D-A100-0138-681EA8B1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856AC-8830-380D-BFBF-4B3916BE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40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06F6-4E92-3493-98DB-355F74DF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20099-1C4A-61A0-AC92-CD3EB70F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3A1CE-FCC8-6E16-C793-82F10167F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65965-1591-32DD-CD5C-908C70E7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5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2750DE-4AAC-1591-BED3-F336E6A2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31EB8F-86E1-5C78-997A-29A28112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86FA5-3DB4-6311-B14F-D9CDBE0F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9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8118-412B-C34B-2006-212C46C5F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86057-C8B0-725A-6A87-67C0FBF6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037D8-7B5F-20D6-C6BF-806EE4C59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DDBD6-7B51-A1D1-1FC6-118F4CE41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3A045-E3D7-BA76-4034-0C36D8529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8206B-4F60-1940-3D7B-F1A47D53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5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516E-66B4-915B-C5C8-9E9466DC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8B4BED-F963-0E19-BD01-40D3ACD92A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5443F-0417-10DF-66A6-4FB29740B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8EAA7-785E-1FBA-0C17-DAB8CE2D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F8B1C-FBF6-F3FF-25A7-DDF4464E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EA6B5-1361-09AE-7D87-12F6FFA7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20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16AE-DECC-D652-B294-458ECAA0A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C3889-0E96-939F-6222-F20261E57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D6D72-41F1-D658-636A-9AFFA4B0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2F752-222B-3874-861B-6323051A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A16E-7389-407F-424C-68F22478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76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07EEE-C832-A6F4-A6DB-7EB6AAF4D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E060D-7E37-5144-1774-02ED740E7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3DC3-2056-EC32-C666-32F382F3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F7A10-5017-1E36-052D-7894D1DED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2EA93-0738-4577-48A0-3E3328EE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297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>
  <p:cSld name="Titel und Inhal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551384" y="620792"/>
            <a:ext cx="1108800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551384" y="1701296"/>
            <a:ext cx="110880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500" rIns="0" bIns="0" anchor="t" anchorCtr="0">
            <a:noAutofit/>
          </a:bodyPr>
          <a:lstStyle>
            <a:lvl1pPr marL="609585" lvl="0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1219170" lvl="1" indent="-304792" algn="l">
              <a:lnSpc>
                <a:spcPct val="117000"/>
              </a:lnSpc>
              <a:spcBef>
                <a:spcPts val="1467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2pPr>
            <a:lvl3pPr marL="1828754" lvl="2" indent="-423323" algn="l">
              <a:lnSpc>
                <a:spcPct val="117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  <a:defRPr/>
            </a:lvl3pPr>
            <a:lvl4pPr marL="2438339" lvl="3" indent="-423323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23323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4267093" lvl="6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4876678" lvl="7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5486263" lvl="8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9840416" y="6453352"/>
            <a:ext cx="1512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ftr" idx="11"/>
          </p:nvPr>
        </p:nvSpPr>
        <p:spPr>
          <a:xfrm>
            <a:off x="5375920" y="6453336"/>
            <a:ext cx="4320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400" rIns="1080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11352584" y="6453336"/>
            <a:ext cx="289248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2"/>
          </p:nvPr>
        </p:nvSpPr>
        <p:spPr>
          <a:xfrm>
            <a:off x="552616" y="260648"/>
            <a:ext cx="110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5400" anchor="b" anchorCtr="0">
            <a:noAutofit/>
          </a:bodyPr>
          <a:lstStyle>
            <a:lvl1pPr marL="609585" lvl="0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67" b="0" u="sng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67" b="0" u="none">
                <a:solidFill>
                  <a:schemeClr val="dk1"/>
                </a:solidFill>
              </a:defRPr>
            </a:lvl2pPr>
            <a:lvl3pPr marL="1828754" lvl="2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467" b="0" u="none">
                <a:solidFill>
                  <a:schemeClr val="dk1"/>
                </a:solidFill>
              </a:defRPr>
            </a:lvl3pPr>
            <a:lvl4pPr marL="2438339" lvl="3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467" b="0" u="none">
                <a:solidFill>
                  <a:schemeClr val="dk1"/>
                </a:solidFill>
              </a:defRPr>
            </a:lvl4pPr>
            <a:lvl5pPr marL="3047924" lvl="4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467" b="0" u="none">
                <a:solidFill>
                  <a:schemeClr val="dk1"/>
                </a:solidFill>
              </a:defRPr>
            </a:lvl5pPr>
            <a:lvl6pPr marL="3657509" lvl="5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None/>
              <a:defRPr sz="1467" b="0" u="none">
                <a:solidFill>
                  <a:schemeClr val="dk1"/>
                </a:solidFill>
              </a:defRPr>
            </a:lvl6pPr>
            <a:lvl7pPr marL="4267093" lvl="6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67" b="0" u="none">
                <a:solidFill>
                  <a:schemeClr val="dk1"/>
                </a:solidFill>
              </a:defRPr>
            </a:lvl7pPr>
            <a:lvl8pPr marL="4876678" lvl="7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67" b="0" u="none">
                <a:solidFill>
                  <a:schemeClr val="dk1"/>
                </a:solidFill>
              </a:defRPr>
            </a:lvl8pPr>
            <a:lvl9pPr marL="5486263" lvl="8" indent="-304792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467" b="0" u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692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AEB44-4C1F-11D2-7C83-6298565A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9A67F-BA2A-0D01-1B0B-2889B7292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79EA6-33E1-9047-690D-C2CC14D5B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9C244-EEC8-4C84-876B-5D247466EC5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92647-DA8C-E312-1899-3472B9006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B2747-E22B-85F8-C252-35CE43D84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B7B1DF-B5C2-4580-9622-2527470F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>
            <a:spLocks noGrp="1"/>
          </p:cNvSpPr>
          <p:nvPr>
            <p:ph type="sldNum" idx="12"/>
          </p:nvPr>
        </p:nvSpPr>
        <p:spPr>
          <a:xfrm>
            <a:off x="11352584" y="6453336"/>
            <a:ext cx="289248" cy="14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200" rIns="0" bIns="0" rtlCol="0" anchor="t" anchorCtr="0">
            <a:noAutofit/>
          </a:bodyPr>
          <a:lstStyle/>
          <a:p>
            <a:fld id="{00000000-1234-1234-1234-123412341234}" type="slidenum">
              <a:rPr lang="en-GB"/>
              <a:pPr/>
              <a:t>1</a:t>
            </a:fld>
            <a:endParaRPr/>
          </a:p>
        </p:txBody>
      </p:sp>
      <p:sp>
        <p:nvSpPr>
          <p:cNvPr id="337" name="Google Shape;337;p50"/>
          <p:cNvSpPr/>
          <p:nvPr/>
        </p:nvSpPr>
        <p:spPr>
          <a:xfrm>
            <a:off x="72570" y="521521"/>
            <a:ext cx="6449567" cy="9477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6667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1504" y="6298903"/>
            <a:ext cx="1165451" cy="461123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/>
        </p:nvSpPr>
        <p:spPr>
          <a:xfrm>
            <a:off x="72569" y="184791"/>
            <a:ext cx="3816424" cy="37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8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Objectives and Scope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0"/>
          <p:cNvSpPr txBox="1"/>
          <p:nvPr/>
        </p:nvSpPr>
        <p:spPr>
          <a:xfrm>
            <a:off x="5767607" y="6592258"/>
            <a:ext cx="6048192" cy="24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" rIns="14400" bIns="0" anchor="t" anchorCtr="0">
            <a:noAutofit/>
          </a:bodyPr>
          <a:lstStyle/>
          <a:p>
            <a:r>
              <a:rPr lang="en-GB" sz="1067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LoRaWAN in Indoor Office Environments :</a:t>
            </a:r>
            <a:r>
              <a:rPr lang="en-GB" sz="800" i="1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Environmental Effects on Path Loss and Signal Reliability </a:t>
            </a:r>
            <a:endParaRPr sz="80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0"/>
          <p:cNvSpPr txBox="1"/>
          <p:nvPr/>
        </p:nvSpPr>
        <p:spPr>
          <a:xfrm>
            <a:off x="9992816" y="6605752"/>
            <a:ext cx="1512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" rIns="0" bIns="0" anchor="t" anchorCtr="0">
            <a:noAutofit/>
          </a:bodyPr>
          <a:lstStyle/>
          <a:p>
            <a:pPr algn="ctr"/>
            <a:r>
              <a:rPr lang="en-GB" sz="800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22.07.2025</a:t>
            </a:r>
            <a:endParaRPr sz="1467"/>
          </a:p>
          <a:p>
            <a:pPr algn="ctr"/>
            <a:endParaRPr sz="80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0"/>
          <p:cNvSpPr/>
          <p:nvPr/>
        </p:nvSpPr>
        <p:spPr>
          <a:xfrm>
            <a:off x="551384" y="1700807"/>
            <a:ext cx="10585176" cy="101496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172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0"/>
          <p:cNvSpPr/>
          <p:nvPr/>
        </p:nvSpPr>
        <p:spPr>
          <a:xfrm rot="8090513">
            <a:off x="2891455" y="1597203"/>
            <a:ext cx="1230844" cy="1222175"/>
          </a:xfrm>
          <a:prstGeom prst="halfFrame">
            <a:avLst>
              <a:gd name="adj1" fmla="val 33333"/>
              <a:gd name="adj2" fmla="val 33333"/>
            </a:avLst>
          </a:prstGeom>
          <a:solidFill>
            <a:schemeClr val="dk1"/>
          </a:solidFill>
          <a:ln w="12700" cap="flat" cmpd="sng">
            <a:solidFill>
              <a:srgbClr val="00172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0"/>
          <p:cNvSpPr/>
          <p:nvPr/>
        </p:nvSpPr>
        <p:spPr>
          <a:xfrm rot="8090513">
            <a:off x="6773975" y="1625471"/>
            <a:ext cx="1230844" cy="1222175"/>
          </a:xfrm>
          <a:prstGeom prst="halfFrame">
            <a:avLst>
              <a:gd name="adj1" fmla="val 33333"/>
              <a:gd name="adj2" fmla="val 33333"/>
            </a:avLst>
          </a:prstGeom>
          <a:solidFill>
            <a:schemeClr val="dk1"/>
          </a:solidFill>
          <a:ln w="12700" cap="flat" cmpd="sng">
            <a:solidFill>
              <a:srgbClr val="00172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0"/>
          <p:cNvSpPr txBox="1"/>
          <p:nvPr/>
        </p:nvSpPr>
        <p:spPr>
          <a:xfrm>
            <a:off x="4423313" y="1877851"/>
            <a:ext cx="2736304" cy="6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-GB" sz="18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Modeling</a:t>
            </a:r>
            <a:endParaRPr sz="1467"/>
          </a:p>
        </p:txBody>
      </p:sp>
      <p:sp>
        <p:nvSpPr>
          <p:cNvPr id="346" name="Google Shape;346;p50"/>
          <p:cNvSpPr txBox="1"/>
          <p:nvPr/>
        </p:nvSpPr>
        <p:spPr>
          <a:xfrm>
            <a:off x="695400" y="1895699"/>
            <a:ext cx="3330800" cy="6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8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LoRaWAN Fundamentals </a:t>
            </a:r>
            <a:endParaRPr sz="1467"/>
          </a:p>
          <a:p>
            <a:r>
              <a:rPr lang="en-GB" sz="18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Environmental Impact </a:t>
            </a:r>
            <a:endParaRPr sz="1467"/>
          </a:p>
        </p:txBody>
      </p:sp>
      <p:sp>
        <p:nvSpPr>
          <p:cNvPr id="347" name="Google Shape;347;p50"/>
          <p:cNvSpPr txBox="1"/>
          <p:nvPr/>
        </p:nvSpPr>
        <p:spPr>
          <a:xfrm>
            <a:off x="8309523" y="1936185"/>
            <a:ext cx="2736304" cy="6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en-GB" sz="186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Visualization &amp; Dashboard</a:t>
            </a:r>
            <a:endParaRPr sz="1467"/>
          </a:p>
        </p:txBody>
      </p:sp>
      <p:sp>
        <p:nvSpPr>
          <p:cNvPr id="348" name="Google Shape;348;p50"/>
          <p:cNvSpPr txBox="1"/>
          <p:nvPr/>
        </p:nvSpPr>
        <p:spPr>
          <a:xfrm>
            <a:off x="317508" y="4409238"/>
            <a:ext cx="11745200" cy="6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287859" indent="-287859"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apply machine learning models such as Multiple Linear Regression, Random Forest, and XGBoost to predict signal performance (</a:t>
            </a:r>
            <a:r>
              <a:rPr lang="en-GB" sz="18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loss</a:t>
            </a:r>
            <a: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based on environmental input. </a:t>
            </a:r>
            <a:endParaRPr sz="1467"/>
          </a:p>
        </p:txBody>
      </p:sp>
      <p:sp>
        <p:nvSpPr>
          <p:cNvPr id="349" name="Google Shape;349;p50"/>
          <p:cNvSpPr txBox="1"/>
          <p:nvPr/>
        </p:nvSpPr>
        <p:spPr>
          <a:xfrm>
            <a:off x="292156" y="4997627"/>
            <a:ext cx="11410400" cy="6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❖ To develop a cross-platform desktop application for real-time visualization of environmental and signal metrics.</a:t>
            </a:r>
            <a:endParaRPr sz="1467"/>
          </a:p>
        </p:txBody>
      </p:sp>
      <p:sp>
        <p:nvSpPr>
          <p:cNvPr id="350" name="Google Shape;350;p50"/>
          <p:cNvSpPr txBox="1"/>
          <p:nvPr/>
        </p:nvSpPr>
        <p:spPr>
          <a:xfrm>
            <a:off x="317575" y="3525149"/>
            <a:ext cx="11745200" cy="74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287859" indent="-287859"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GB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survey the state-of-the-art in </a:t>
            </a:r>
            <a:r>
              <a:rPr lang="en-GB" sz="1867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LoRaWAN</a:t>
            </a:r>
            <a:r>
              <a:rPr lang="en-GB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technology fundamentals and the impact of indoor environmental parameters</a:t>
            </a:r>
            <a:r>
              <a:rPr lang="en-GB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signal degradation.</a:t>
            </a:r>
            <a:endParaRPr sz="1467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5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921215" y="1510943"/>
            <a:ext cx="4387392" cy="232135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68" name="Google Shape;468;p57"/>
          <p:cNvSpPr txBox="1">
            <a:spLocks noGrp="1"/>
          </p:cNvSpPr>
          <p:nvPr>
            <p:ph type="sldNum" idx="12"/>
          </p:nvPr>
        </p:nvSpPr>
        <p:spPr>
          <a:xfrm>
            <a:off x="11352584" y="6453336"/>
            <a:ext cx="289248" cy="14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200" rIns="0" bIns="0" rtlCol="0" anchor="t" anchorCtr="0">
            <a:noAutofit/>
          </a:bodyPr>
          <a:lstStyle/>
          <a:p>
            <a:fld id="{00000000-1234-1234-1234-123412341234}" type="slidenum">
              <a:rPr lang="en-GB"/>
              <a:pPr/>
              <a:t>2</a:t>
            </a:fld>
            <a:endParaRPr/>
          </a:p>
        </p:txBody>
      </p:sp>
      <p:grpSp>
        <p:nvGrpSpPr>
          <p:cNvPr id="469" name="Google Shape;469;p57"/>
          <p:cNvGrpSpPr/>
          <p:nvPr/>
        </p:nvGrpSpPr>
        <p:grpSpPr>
          <a:xfrm>
            <a:off x="4590467" y="1510943"/>
            <a:ext cx="7310517" cy="2321352"/>
            <a:chOff x="4590468" y="1510942"/>
            <a:chExt cx="6914524" cy="2321352"/>
          </a:xfrm>
        </p:grpSpPr>
        <p:pic>
          <p:nvPicPr>
            <p:cNvPr id="470" name="Google Shape;470;p5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04692" y="1510942"/>
              <a:ext cx="2400300" cy="2321352"/>
            </a:xfrm>
            <a:prstGeom prst="rect">
              <a:avLst/>
            </a:prstGeom>
            <a:noFill/>
            <a:ln w="28575" cap="flat" cmpd="sng">
              <a:solidFill>
                <a:srgbClr val="665A94"/>
              </a:solidFill>
              <a:prstDash val="dash"/>
              <a:round/>
              <a:headEnd type="none" w="sm" len="sm"/>
              <a:tailEnd type="none" w="sm" len="sm"/>
            </a:ln>
          </p:spPr>
        </p:pic>
        <p:sp>
          <p:nvSpPr>
            <p:cNvPr id="471" name="Google Shape;471;p57"/>
            <p:cNvSpPr/>
            <p:nvPr/>
          </p:nvSpPr>
          <p:spPr>
            <a:xfrm>
              <a:off x="4590468" y="2126864"/>
              <a:ext cx="3457262" cy="62644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665A94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E9F4F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2" name="Google Shape;472;p57"/>
            <p:cNvCxnSpPr/>
            <p:nvPr/>
          </p:nvCxnSpPr>
          <p:spPr>
            <a:xfrm>
              <a:off x="8047730" y="2472249"/>
              <a:ext cx="1056962" cy="0"/>
            </a:xfrm>
            <a:prstGeom prst="straightConnector1">
              <a:avLst/>
            </a:prstGeom>
            <a:noFill/>
            <a:ln w="28575" cap="flat" cmpd="sng">
              <a:solidFill>
                <a:srgbClr val="665A94"/>
              </a:solidFill>
              <a:prstDash val="dash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473" name="Google Shape;473;p57"/>
          <p:cNvGrpSpPr/>
          <p:nvPr/>
        </p:nvGrpSpPr>
        <p:grpSpPr>
          <a:xfrm>
            <a:off x="291018" y="1510943"/>
            <a:ext cx="4237573" cy="2321352"/>
            <a:chOff x="684651" y="1510942"/>
            <a:chExt cx="3840928" cy="2321352"/>
          </a:xfrm>
        </p:grpSpPr>
        <p:pic>
          <p:nvPicPr>
            <p:cNvPr id="474" name="Google Shape;474;p5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84651" y="1510942"/>
              <a:ext cx="2312714" cy="2321352"/>
            </a:xfrm>
            <a:prstGeom prst="rect">
              <a:avLst/>
            </a:prstGeom>
            <a:noFill/>
            <a:ln w="28575" cap="flat" cmpd="sng">
              <a:solidFill>
                <a:srgbClr val="665A94"/>
              </a:solidFill>
              <a:prstDash val="dash"/>
              <a:round/>
              <a:headEnd type="none" w="sm" len="sm"/>
              <a:tailEnd type="none" w="sm" len="sm"/>
            </a:ln>
          </p:spPr>
        </p:pic>
        <p:sp>
          <p:nvSpPr>
            <p:cNvPr id="475" name="Google Shape;475;p57"/>
            <p:cNvSpPr/>
            <p:nvPr/>
          </p:nvSpPr>
          <p:spPr>
            <a:xfrm>
              <a:off x="4004209" y="2248491"/>
              <a:ext cx="521370" cy="62644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665A94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E9F4F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6" name="Google Shape;476;p57"/>
            <p:cNvCxnSpPr>
              <a:stCxn id="467" idx="1"/>
              <a:endCxn id="474" idx="3"/>
            </p:cNvCxnSpPr>
            <p:nvPr/>
          </p:nvCxnSpPr>
          <p:spPr>
            <a:xfrm rot="10800000">
              <a:off x="2997355" y="2671618"/>
              <a:ext cx="977700" cy="0"/>
            </a:xfrm>
            <a:prstGeom prst="straightConnector1">
              <a:avLst/>
            </a:prstGeom>
            <a:noFill/>
            <a:ln w="28575" cap="flat" cmpd="sng">
              <a:solidFill>
                <a:srgbClr val="665A94"/>
              </a:solidFill>
              <a:prstDash val="dash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477" name="Google Shape;477;p57"/>
          <p:cNvSpPr txBox="1"/>
          <p:nvPr/>
        </p:nvSpPr>
        <p:spPr>
          <a:xfrm>
            <a:off x="8560439" y="4166039"/>
            <a:ext cx="3374000" cy="18982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287859" indent="-287859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867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Duration: </a:t>
            </a:r>
            <a:r>
              <a:rPr lang="en-GB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GB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-month campaign.</a:t>
            </a:r>
            <a:endParaRPr sz="1467" dirty="0"/>
          </a:p>
          <a:p>
            <a:pPr marL="287859" indent="-287859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867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lang="en-GB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1,328,334 rows.</a:t>
            </a:r>
            <a:endParaRPr sz="1467" dirty="0"/>
          </a:p>
          <a:p>
            <a:pPr marL="287859" indent="-287859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867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 Interval: </a:t>
            </a:r>
            <a:r>
              <a:rPr lang="en-GB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60 s.</a:t>
            </a:r>
            <a:endParaRPr sz="1467" dirty="0"/>
          </a:p>
          <a:p>
            <a:pPr marL="287859" indent="-287859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867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parameters: </a:t>
            </a:r>
            <a:r>
              <a:rPr lang="en-GB" sz="18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LoRaWAN metadata + Environmental parameters</a:t>
            </a:r>
            <a:r>
              <a:rPr lang="en-GB" sz="1867" dirty="0">
                <a:solidFill>
                  <a:srgbClr val="665A9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67" dirty="0"/>
          </a:p>
        </p:txBody>
      </p:sp>
      <p:pic>
        <p:nvPicPr>
          <p:cNvPr id="478" name="Google Shape;478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21214" y="3942654"/>
            <a:ext cx="4387393" cy="22813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79" name="Google Shape;479;p57"/>
          <p:cNvSpPr txBox="1"/>
          <p:nvPr/>
        </p:nvSpPr>
        <p:spPr>
          <a:xfrm>
            <a:off x="257422" y="4166039"/>
            <a:ext cx="3606953" cy="181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287859" indent="-287859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8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Indoor structural materials: </a:t>
            </a:r>
            <a: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Brick/concrete walls, wooden partitions, semi-open corridor.</a:t>
            </a:r>
            <a:endParaRPr sz="1467"/>
          </a:p>
          <a:p>
            <a:pPr marL="287859" indent="-287859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86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Deployment: </a:t>
            </a:r>
            <a: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GB" sz="1867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</a:t>
            </a:r>
            <a: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floor, </a:t>
            </a:r>
            <a:r>
              <a:rPr lang="en-GB" sz="1867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~240m² in the </a:t>
            </a:r>
            <a: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Holderlin Campus(</a:t>
            </a:r>
            <a:r>
              <a:rPr lang="en-GB" sz="1867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290m above sea level</a:t>
            </a:r>
            <a: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 (868 MHz)</a:t>
            </a:r>
            <a:endParaRPr sz="1467"/>
          </a:p>
        </p:txBody>
      </p:sp>
      <p:grpSp>
        <p:nvGrpSpPr>
          <p:cNvPr id="480" name="Google Shape;480;p57"/>
          <p:cNvGrpSpPr/>
          <p:nvPr/>
        </p:nvGrpSpPr>
        <p:grpSpPr>
          <a:xfrm>
            <a:off x="938386" y="2905703"/>
            <a:ext cx="3794036" cy="456541"/>
            <a:chOff x="938385" y="2905703"/>
            <a:chExt cx="3794036" cy="456542"/>
          </a:xfrm>
        </p:grpSpPr>
        <p:sp>
          <p:nvSpPr>
            <p:cNvPr id="481" name="Google Shape;481;p57"/>
            <p:cNvSpPr/>
            <p:nvPr/>
          </p:nvSpPr>
          <p:spPr>
            <a:xfrm>
              <a:off x="3938556" y="3125105"/>
              <a:ext cx="793865" cy="23714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665A94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2" name="Google Shape;482;p57"/>
            <p:cNvCxnSpPr/>
            <p:nvPr/>
          </p:nvCxnSpPr>
          <p:spPr>
            <a:xfrm rot="10800000">
              <a:off x="938385" y="2905703"/>
              <a:ext cx="3015000" cy="367500"/>
            </a:xfrm>
            <a:prstGeom prst="bentConnector3">
              <a:avLst>
                <a:gd name="adj1" fmla="val 8763"/>
              </a:avLst>
            </a:prstGeom>
            <a:noFill/>
            <a:ln w="28575" cap="flat" cmpd="sng">
              <a:solidFill>
                <a:srgbClr val="665A94"/>
              </a:solidFill>
              <a:prstDash val="dash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483" name="Google Shape;483;p57"/>
          <p:cNvSpPr/>
          <p:nvPr/>
        </p:nvSpPr>
        <p:spPr>
          <a:xfrm>
            <a:off x="5542962" y="3262197"/>
            <a:ext cx="496477" cy="312459"/>
          </a:xfrm>
          <a:prstGeom prst="rect">
            <a:avLst/>
          </a:prstGeom>
          <a:noFill/>
          <a:ln w="28575" cap="flat" cmpd="sng">
            <a:solidFill>
              <a:srgbClr val="665A9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665A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7"/>
          <p:cNvSpPr txBox="1"/>
          <p:nvPr/>
        </p:nvSpPr>
        <p:spPr>
          <a:xfrm>
            <a:off x="9992816" y="6605752"/>
            <a:ext cx="1512000" cy="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" rIns="0" bIns="0" anchor="t" anchorCtr="0">
            <a:noAutofit/>
          </a:bodyPr>
          <a:lstStyle/>
          <a:p>
            <a:pPr algn="ctr"/>
            <a:r>
              <a:rPr lang="en-GB" sz="800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22.07.2025</a:t>
            </a:r>
            <a:endParaRPr sz="1467"/>
          </a:p>
          <a:p>
            <a:pPr algn="ctr"/>
            <a:endParaRPr sz="80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31504" y="6298903"/>
            <a:ext cx="1165451" cy="461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57"/>
          <p:cNvSpPr txBox="1"/>
          <p:nvPr/>
        </p:nvSpPr>
        <p:spPr>
          <a:xfrm>
            <a:off x="5735960" y="6570811"/>
            <a:ext cx="6048192" cy="24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" rIns="14400" bIns="0" anchor="t" anchorCtr="0">
            <a:noAutofit/>
          </a:bodyPr>
          <a:lstStyle/>
          <a:p>
            <a:r>
              <a:rPr lang="en-GB" sz="1067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LoRaWAN in Indoor Office Environments :</a:t>
            </a:r>
            <a:r>
              <a:rPr lang="en-GB" sz="800" i="1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Environmental Effects on Path Loss and Signal Reliability </a:t>
            </a:r>
            <a:endParaRPr sz="80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57"/>
          <p:cNvSpPr/>
          <p:nvPr/>
        </p:nvSpPr>
        <p:spPr>
          <a:xfrm>
            <a:off x="72570" y="521521"/>
            <a:ext cx="6449567" cy="9477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6667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57"/>
          <p:cNvSpPr txBox="1"/>
          <p:nvPr/>
        </p:nvSpPr>
        <p:spPr>
          <a:xfrm>
            <a:off x="1" y="156426"/>
            <a:ext cx="6250983" cy="37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867" b="1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Data Collection: Sensor Network Design and Deployment</a:t>
            </a: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7"/>
          <p:cNvSpPr txBox="1"/>
          <p:nvPr/>
        </p:nvSpPr>
        <p:spPr>
          <a:xfrm>
            <a:off x="2252253" y="6463332"/>
            <a:ext cx="1029000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15"/>
              </a:lnSpc>
            </a:pPr>
            <a:r>
              <a:rPr lang="en-GB" sz="800" i="1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 Obiri, N. M., &amp; Van Laerhoven, K. (2024). A Comprehensive Data Description for LoRaWAN Path Loss Measurements in an Indoor Office Setting. IEEE Access. DOI: 10.1109/ACCESS.2024.0429000</a:t>
            </a:r>
            <a:endParaRPr sz="933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5;p57">
            <a:extLst>
              <a:ext uri="{FF2B5EF4-FFF2-40B4-BE49-F238E27FC236}">
                <a16:creationId xmlns:a16="http://schemas.microsoft.com/office/drawing/2014/main" id="{18696FC5-E4D7-42FF-46DE-BA6B6E4A7C1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1504" y="6298903"/>
            <a:ext cx="1165451" cy="46112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86;p57">
            <a:extLst>
              <a:ext uri="{FF2B5EF4-FFF2-40B4-BE49-F238E27FC236}">
                <a16:creationId xmlns:a16="http://schemas.microsoft.com/office/drawing/2014/main" id="{09BAD3E7-6F84-8D01-736D-29CDE37367A7}"/>
              </a:ext>
            </a:extLst>
          </p:cNvPr>
          <p:cNvSpPr txBox="1"/>
          <p:nvPr/>
        </p:nvSpPr>
        <p:spPr>
          <a:xfrm>
            <a:off x="5735960" y="6570811"/>
            <a:ext cx="6048192" cy="24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200" rIns="14400" bIns="0" anchor="t" anchorCtr="0">
            <a:noAutofit/>
          </a:bodyPr>
          <a:lstStyle/>
          <a:p>
            <a:r>
              <a:rPr lang="en-GB" sz="1067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LoRaWAN in Indoor Office Environments :</a:t>
            </a:r>
            <a:r>
              <a:rPr lang="en-GB" sz="800" i="1">
                <a:solidFill>
                  <a:srgbClr val="888E9B"/>
                </a:solidFill>
                <a:latin typeface="Calibri"/>
                <a:ea typeface="Calibri"/>
                <a:cs typeface="Calibri"/>
                <a:sym typeface="Calibri"/>
              </a:rPr>
              <a:t>Environmental Effects on Path Loss and Signal Reliability </a:t>
            </a:r>
            <a:endParaRPr sz="800">
              <a:solidFill>
                <a:srgbClr val="888E9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87;p57">
            <a:extLst>
              <a:ext uri="{FF2B5EF4-FFF2-40B4-BE49-F238E27FC236}">
                <a16:creationId xmlns:a16="http://schemas.microsoft.com/office/drawing/2014/main" id="{7D2FB7AA-22B0-1E63-771B-31C353A83EB3}"/>
              </a:ext>
            </a:extLst>
          </p:cNvPr>
          <p:cNvSpPr/>
          <p:nvPr/>
        </p:nvSpPr>
        <p:spPr>
          <a:xfrm>
            <a:off x="72570" y="521521"/>
            <a:ext cx="6449567" cy="9477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6667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488;p57">
            <a:extLst>
              <a:ext uri="{FF2B5EF4-FFF2-40B4-BE49-F238E27FC236}">
                <a16:creationId xmlns:a16="http://schemas.microsoft.com/office/drawing/2014/main" id="{0164EEA4-0A64-909D-D2B8-2FC560EE915C}"/>
              </a:ext>
            </a:extLst>
          </p:cNvPr>
          <p:cNvSpPr txBox="1"/>
          <p:nvPr/>
        </p:nvSpPr>
        <p:spPr>
          <a:xfrm>
            <a:off x="1" y="156426"/>
            <a:ext cx="625098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867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Data Collection with </a:t>
            </a:r>
            <a:r>
              <a:rPr lang="en-US" sz="2000" b="1" dirty="0">
                <a:solidFill>
                  <a:srgbClr val="002060"/>
                </a:solidFill>
                <a:effectLst/>
              </a:rPr>
              <a:t>Federated learning </a:t>
            </a:r>
            <a:endParaRPr sz="1867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489;p57">
            <a:extLst>
              <a:ext uri="{FF2B5EF4-FFF2-40B4-BE49-F238E27FC236}">
                <a16:creationId xmlns:a16="http://schemas.microsoft.com/office/drawing/2014/main" id="{ED6EE59B-E6AC-2608-E028-E7ED4811DD21}"/>
              </a:ext>
            </a:extLst>
          </p:cNvPr>
          <p:cNvSpPr txBox="1"/>
          <p:nvPr/>
        </p:nvSpPr>
        <p:spPr>
          <a:xfrm>
            <a:off x="2252253" y="6463332"/>
            <a:ext cx="1029000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15"/>
              </a:lnSpc>
            </a:pPr>
            <a:r>
              <a:rPr lang="en-GB" sz="800" i="1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 Obiri, N. M., &amp; Van Laerhoven, K. (2024). A Comprehensive Data Description for LoRaWAN Path Loss Measurements in an Indoor Office Setting. IEEE Access. DOI: 10.1109/ACCESS.2024.0429000</a:t>
            </a:r>
            <a:endParaRPr sz="933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D3CF1-C239-F0DC-A7DA-DB10ECF3E3DB}"/>
              </a:ext>
            </a:extLst>
          </p:cNvPr>
          <p:cNvSpPr txBox="1"/>
          <p:nvPr/>
        </p:nvSpPr>
        <p:spPr>
          <a:xfrm>
            <a:off x="138004" y="720924"/>
            <a:ext cx="11699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Federated learning enables 6 Arduino nodes to: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effectLst/>
              </a:rPr>
              <a:t> collaboratively train one shared model by </a:t>
            </a:r>
            <a:r>
              <a:rPr lang="en-US" b="1" dirty="0">
                <a:effectLst/>
              </a:rPr>
              <a:t>keeping raw sensor data local </a:t>
            </a:r>
            <a:r>
              <a:rPr lang="en-US" dirty="0">
                <a:effectLst/>
              </a:rPr>
              <a:t>and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effectLst/>
              </a:rPr>
              <a:t> exchanging </a:t>
            </a:r>
            <a:r>
              <a:rPr lang="en-US" b="1" dirty="0">
                <a:effectLst/>
              </a:rPr>
              <a:t>only compact model updates (gradients/weights) </a:t>
            </a:r>
            <a:r>
              <a:rPr lang="en-US" dirty="0">
                <a:effectLst/>
              </a:rPr>
              <a:t>that a </a:t>
            </a:r>
            <a:r>
              <a:rPr lang="en-US" b="1" dirty="0">
                <a:effectLst/>
              </a:rPr>
              <a:t>central server aggregates,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effectLst/>
              </a:rPr>
              <a:t> eliminating the need to transmit large datasets while respecting LoRaWAN's severe downlink constraints.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8C40C6-2BAA-C984-BAD2-7D200435DF60}"/>
              </a:ext>
            </a:extLst>
          </p:cNvPr>
          <p:cNvSpPr txBox="1"/>
          <p:nvPr/>
        </p:nvSpPr>
        <p:spPr>
          <a:xfrm>
            <a:off x="234626" y="2214364"/>
            <a:ext cx="112620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2060"/>
                </a:solidFill>
                <a:latin typeface="fkGroteskNeue"/>
              </a:rPr>
              <a:t>M</a:t>
            </a:r>
            <a:r>
              <a:rPr lang="en-US" b="1" i="0" dirty="0">
                <a:solidFill>
                  <a:srgbClr val="002060"/>
                </a:solidFill>
                <a:effectLst/>
                <a:latin typeface="fkGroteskNeue"/>
              </a:rPr>
              <a:t>ain processes for our project:</a:t>
            </a:r>
          </a:p>
          <a:p>
            <a:r>
              <a:rPr lang="en-US" b="1" dirty="0"/>
              <a:t>1. On-Device Local Training:</a:t>
            </a:r>
          </a:p>
          <a:p>
            <a:pPr algn="just"/>
            <a:r>
              <a:rPr lang="en-US" dirty="0"/>
              <a:t>Each Arduino node independently trains a </a:t>
            </a:r>
            <a:r>
              <a:rPr lang="en-US" dirty="0" err="1"/>
              <a:t>TinyML</a:t>
            </a:r>
            <a:r>
              <a:rPr lang="en-US" dirty="0"/>
              <a:t> model using its own local sensor data (temperature, humidity, CO₂, PM2.5) and link metrics (RSSI, SNR, SF) to predict path loss without sharing raw measurements​.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2. Federated Aggregation</a:t>
            </a:r>
          </a:p>
          <a:p>
            <a:r>
              <a:rPr lang="en-US" dirty="0"/>
              <a:t>The central server (FL orchestrator) collects model updates from participating nodes via LoRaWAN uplinks and aggregates them using </a:t>
            </a:r>
            <a:r>
              <a:rPr lang="en-US" dirty="0" err="1"/>
              <a:t>FedAvg</a:t>
            </a:r>
            <a:r>
              <a:rPr lang="en-US" dirty="0"/>
              <a:t> to create an improved global model​</a:t>
            </a:r>
          </a:p>
          <a:p>
            <a:endParaRPr lang="en-US" dirty="0"/>
          </a:p>
          <a:p>
            <a:r>
              <a:rPr lang="en-US" b="1" dirty="0"/>
              <a:t>3. Global Model Distribution</a:t>
            </a:r>
          </a:p>
          <a:p>
            <a:r>
              <a:rPr lang="en-US" dirty="0"/>
              <a:t>The server distributes the updated global model back to nodes via constrained </a:t>
            </a:r>
            <a:r>
              <a:rPr lang="en-US" b="1" dirty="0"/>
              <a:t>LoRaWAN downlinks </a:t>
            </a:r>
            <a:r>
              <a:rPr lang="en-US" dirty="0"/>
              <a:t>(~10/day on TTN), enabling all devices to benefit from collective learning while respecting duty-cycle limits​</a:t>
            </a:r>
          </a:p>
          <a:p>
            <a:r>
              <a:rPr lang="en-US" dirty="0"/>
              <a:t>These three tasks form a continuous cycle: Learn locally → Aggregate centrally → Synchronize globally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22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5;p57">
            <a:extLst>
              <a:ext uri="{FF2B5EF4-FFF2-40B4-BE49-F238E27FC236}">
                <a16:creationId xmlns:a16="http://schemas.microsoft.com/office/drawing/2014/main" id="{17E13B29-2E86-239F-A7ED-1409A32819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1504" y="6298903"/>
            <a:ext cx="1165451" cy="46112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87;p57">
            <a:extLst>
              <a:ext uri="{FF2B5EF4-FFF2-40B4-BE49-F238E27FC236}">
                <a16:creationId xmlns:a16="http://schemas.microsoft.com/office/drawing/2014/main" id="{AD670E70-0443-C03C-D3E1-D8D883EE65D8}"/>
              </a:ext>
            </a:extLst>
          </p:cNvPr>
          <p:cNvSpPr/>
          <p:nvPr/>
        </p:nvSpPr>
        <p:spPr>
          <a:xfrm>
            <a:off x="72570" y="521521"/>
            <a:ext cx="6449567" cy="9477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6667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488;p57">
            <a:extLst>
              <a:ext uri="{FF2B5EF4-FFF2-40B4-BE49-F238E27FC236}">
                <a16:creationId xmlns:a16="http://schemas.microsoft.com/office/drawing/2014/main" id="{6BBF6F4A-C508-343F-608D-86B08B6A5901}"/>
              </a:ext>
            </a:extLst>
          </p:cNvPr>
          <p:cNvSpPr txBox="1"/>
          <p:nvPr/>
        </p:nvSpPr>
        <p:spPr>
          <a:xfrm>
            <a:off x="1" y="156426"/>
            <a:ext cx="6250983" cy="37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US" sz="1867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TinyML</a:t>
            </a:r>
            <a:r>
              <a:rPr lang="en-US" sz="1867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at our node:</a:t>
            </a:r>
            <a:endParaRPr sz="1867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89;p57">
            <a:extLst>
              <a:ext uri="{FF2B5EF4-FFF2-40B4-BE49-F238E27FC236}">
                <a16:creationId xmlns:a16="http://schemas.microsoft.com/office/drawing/2014/main" id="{B8289955-6BC2-D217-B0A3-3D06204C29F4}"/>
              </a:ext>
            </a:extLst>
          </p:cNvPr>
          <p:cNvSpPr txBox="1"/>
          <p:nvPr/>
        </p:nvSpPr>
        <p:spPr>
          <a:xfrm>
            <a:off x="2252253" y="6463332"/>
            <a:ext cx="1029000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15"/>
              </a:lnSpc>
            </a:pPr>
            <a:r>
              <a:rPr lang="en-GB" sz="800" i="1">
                <a:solidFill>
                  <a:srgbClr val="00385F"/>
                </a:solidFill>
                <a:latin typeface="Calibri"/>
                <a:ea typeface="Calibri"/>
                <a:cs typeface="Calibri"/>
                <a:sym typeface="Calibri"/>
              </a:rPr>
              <a:t> Obiri, N. M., &amp; Van Laerhoven, K. (2024). A Comprehensive Data Description for LoRaWAN Path Loss Measurements in an Indoor Office Setting. IEEE Access. DOI: 10.1109/ACCESS.2024.0429000</a:t>
            </a:r>
            <a:endParaRPr sz="93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90D0E-FE1C-F840-2EB1-C7A8E39234C2}"/>
              </a:ext>
            </a:extLst>
          </p:cNvPr>
          <p:cNvSpPr txBox="1"/>
          <p:nvPr/>
        </p:nvSpPr>
        <p:spPr>
          <a:xfrm>
            <a:off x="158527" y="780725"/>
            <a:ext cx="11655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i="0" dirty="0" err="1">
                <a:effectLst/>
                <a:latin typeface="fkGroteskNeue"/>
              </a:rPr>
              <a:t>TinyML</a:t>
            </a:r>
            <a:r>
              <a:rPr lang="en-US" b="1" i="0" dirty="0">
                <a:effectLst/>
                <a:latin typeface="fkGroteskNeue"/>
              </a:rPr>
              <a:t> </a:t>
            </a:r>
            <a:r>
              <a:rPr lang="en-US" b="0" i="0" dirty="0">
                <a:effectLst/>
                <a:latin typeface="fkGroteskNeue"/>
              </a:rPr>
              <a:t>on our end device is mainly used to run a small ML model locally (on the </a:t>
            </a:r>
            <a:r>
              <a:rPr lang="en-US" b="1" i="0" dirty="0">
                <a:effectLst/>
                <a:latin typeface="fkGroteskNeue"/>
              </a:rPr>
              <a:t>Arduino</a:t>
            </a:r>
            <a:r>
              <a:rPr lang="en-US" b="0" i="0" dirty="0">
                <a:effectLst/>
                <a:latin typeface="fkGroteskNeue"/>
              </a:rPr>
              <a:t>) so the node can predict path loss/link quality in real time and make decisions without relying on the cloud.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838394-7118-40A1-D2D2-481112D3A458}"/>
              </a:ext>
            </a:extLst>
          </p:cNvPr>
          <p:cNvSpPr txBox="1"/>
          <p:nvPr/>
        </p:nvSpPr>
        <p:spPr>
          <a:xfrm>
            <a:off x="861557" y="1591485"/>
            <a:ext cx="94174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fkGroteskNeue"/>
              </a:rPr>
              <a:t>On-device inference: </a:t>
            </a:r>
            <a:r>
              <a:rPr lang="en-US" b="0" i="0" dirty="0">
                <a:effectLst/>
                <a:latin typeface="fkGroteskNeue"/>
              </a:rPr>
              <a:t>The node uses a </a:t>
            </a:r>
            <a:r>
              <a:rPr lang="en-US" b="0" i="0" dirty="0" err="1">
                <a:effectLst/>
                <a:latin typeface="fkGroteskNeue"/>
              </a:rPr>
              <a:t>TinyML</a:t>
            </a:r>
            <a:r>
              <a:rPr lang="en-US" b="0" i="0" dirty="0">
                <a:effectLst/>
                <a:latin typeface="fkGroteskNeue"/>
              </a:rPr>
              <a:t>/</a:t>
            </a:r>
            <a:r>
              <a:rPr lang="en-US" b="0" i="0" dirty="0" err="1">
                <a:effectLst/>
                <a:latin typeface="fkGroteskNeue"/>
              </a:rPr>
              <a:t>TFLite</a:t>
            </a:r>
            <a:r>
              <a:rPr lang="en-US" b="0" i="0" dirty="0">
                <a:effectLst/>
                <a:latin typeface="fkGroteskNeue"/>
              </a:rPr>
              <a:t>-style model to turn current sensor + radio context into an immediate prediction (e.g., expected path loss or link state).​​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fkGroteskNeue"/>
              </a:rPr>
              <a:t>Local learning (for FL): </a:t>
            </a:r>
            <a:r>
              <a:rPr lang="en-US" b="0" i="0" dirty="0">
                <a:effectLst/>
                <a:latin typeface="fkGroteskNeue"/>
              </a:rPr>
              <a:t>The node can compute small training updates from its recent local samples, then share only those updates (not raw data) during federated rounds.​​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fkGroteskNeue"/>
              </a:rPr>
              <a:t>Communication-aware actions: </a:t>
            </a:r>
            <a:r>
              <a:rPr lang="en-US" b="0" i="0" dirty="0">
                <a:effectLst/>
                <a:latin typeface="fkGroteskNeue"/>
              </a:rPr>
              <a:t>The prediction can drive behavior like reducing uplinks when conditions are stable and increasing reporting when the link is degrading.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C3F2E6-E126-9021-2953-1FBFCE787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857" y="3990579"/>
            <a:ext cx="2647959" cy="186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AD6355-00F2-D4A0-A15B-09D809CF53D0}"/>
              </a:ext>
            </a:extLst>
          </p:cNvPr>
          <p:cNvSpPr txBox="1"/>
          <p:nvPr/>
        </p:nvSpPr>
        <p:spPr>
          <a:xfrm>
            <a:off x="158527" y="4774249"/>
            <a:ext cx="87281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0" dirty="0" err="1">
                <a:effectLst/>
                <a:latin typeface="fkGroteskNeue"/>
              </a:rPr>
              <a:t>TinyML</a:t>
            </a:r>
            <a:r>
              <a:rPr lang="en-US" b="1" i="0" dirty="0">
                <a:effectLst/>
                <a:latin typeface="fkGroteskNeue"/>
              </a:rPr>
              <a:t> </a:t>
            </a:r>
            <a:r>
              <a:rPr lang="en-US" b="0" i="0" dirty="0">
                <a:effectLst/>
                <a:latin typeface="fkGroteskNeue"/>
              </a:rPr>
              <a:t>can enable </a:t>
            </a:r>
            <a:r>
              <a:rPr lang="en-US" b="1" i="0" dirty="0">
                <a:effectLst/>
                <a:latin typeface="fkGroteskNeue"/>
              </a:rPr>
              <a:t>smart data reduction </a:t>
            </a:r>
            <a:r>
              <a:rPr lang="en-US" b="0" i="0" dirty="0">
                <a:effectLst/>
                <a:latin typeface="fkGroteskNeue"/>
              </a:rPr>
              <a:t>(</a:t>
            </a:r>
            <a:r>
              <a:rPr lang="en-US" b="1" i="0" dirty="0">
                <a:effectLst/>
                <a:latin typeface="fkGroteskNeue"/>
              </a:rPr>
              <a:t>event-triggered uplinks</a:t>
            </a:r>
            <a:r>
              <a:rPr lang="en-US" b="0" i="0" dirty="0">
                <a:effectLst/>
                <a:latin typeface="fkGroteskNeue"/>
              </a:rPr>
              <a:t>, </a:t>
            </a:r>
            <a:r>
              <a:rPr lang="en-US" b="1" i="0" dirty="0">
                <a:effectLst/>
                <a:latin typeface="fkGroteskNeue"/>
              </a:rPr>
              <a:t>anomaly/change detection</a:t>
            </a:r>
            <a:r>
              <a:rPr lang="en-US" b="0" i="0" dirty="0">
                <a:effectLst/>
                <a:latin typeface="fkGroteskNeue"/>
              </a:rPr>
              <a:t>, sending </a:t>
            </a:r>
            <a:r>
              <a:rPr lang="en-US" b="1" i="0" dirty="0">
                <a:effectLst/>
                <a:latin typeface="fkGroteskNeue"/>
              </a:rPr>
              <a:t>summaries/features instead of raw streams</a:t>
            </a:r>
            <a:r>
              <a:rPr lang="en-US" b="0" i="0" dirty="0">
                <a:effectLst/>
                <a:latin typeface="fkGroteskNeue"/>
              </a:rPr>
              <a:t>) so </a:t>
            </a:r>
            <a:r>
              <a:rPr lang="en-US" dirty="0">
                <a:latin typeface="fkGroteskNeue"/>
              </a:rPr>
              <a:t>we</a:t>
            </a:r>
            <a:r>
              <a:rPr lang="en-US" b="0" i="0" dirty="0">
                <a:effectLst/>
                <a:latin typeface="fkGroteskNeue"/>
              </a:rPr>
              <a:t> </a:t>
            </a:r>
            <a:r>
              <a:rPr lang="en-US" b="1" i="0" dirty="0">
                <a:effectLst/>
                <a:latin typeface="fkGroteskNeue"/>
              </a:rPr>
              <a:t>transmit less over LoRaWAN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545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87;p57">
            <a:extLst>
              <a:ext uri="{FF2B5EF4-FFF2-40B4-BE49-F238E27FC236}">
                <a16:creationId xmlns:a16="http://schemas.microsoft.com/office/drawing/2014/main" id="{07B68FEF-BE0B-6682-9770-FD891346B9DE}"/>
              </a:ext>
            </a:extLst>
          </p:cNvPr>
          <p:cNvSpPr/>
          <p:nvPr/>
        </p:nvSpPr>
        <p:spPr>
          <a:xfrm>
            <a:off x="72570" y="521521"/>
            <a:ext cx="6449567" cy="9477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6667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88;p57">
            <a:extLst>
              <a:ext uri="{FF2B5EF4-FFF2-40B4-BE49-F238E27FC236}">
                <a16:creationId xmlns:a16="http://schemas.microsoft.com/office/drawing/2014/main" id="{30E70B7A-0FCC-4BD6-FA66-10880F73EFDD}"/>
              </a:ext>
            </a:extLst>
          </p:cNvPr>
          <p:cNvSpPr txBox="1"/>
          <p:nvPr/>
        </p:nvSpPr>
        <p:spPr>
          <a:xfrm>
            <a:off x="1" y="156426"/>
            <a:ext cx="6250983" cy="37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US" sz="1867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TinyML</a:t>
            </a:r>
            <a:r>
              <a:rPr lang="en-US" sz="1867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at our node vs </a:t>
            </a:r>
            <a:r>
              <a:rPr lang="en-US" b="1" dirty="0">
                <a:solidFill>
                  <a:srgbClr val="002060"/>
                </a:solidFill>
              </a:rPr>
              <a:t>heavy offline ML model</a:t>
            </a:r>
            <a:endParaRPr sz="1867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C77DC-3C00-97EB-A0B8-0651205219E3}"/>
              </a:ext>
            </a:extLst>
          </p:cNvPr>
          <p:cNvSpPr txBox="1"/>
          <p:nvPr/>
        </p:nvSpPr>
        <p:spPr>
          <a:xfrm>
            <a:off x="129807" y="901136"/>
            <a:ext cx="112887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2060"/>
                </a:solidFill>
                <a:latin typeface="fkGroteskNeue"/>
              </a:rPr>
              <a:t>BENEFITS:</a:t>
            </a:r>
            <a:endParaRPr lang="en-US" b="1" i="0" dirty="0">
              <a:solidFill>
                <a:srgbClr val="002060"/>
              </a:solidFill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2060"/>
                </a:solidFill>
                <a:effectLst/>
                <a:latin typeface="fkGroteskNeue"/>
              </a:rPr>
              <a:t>Predict “link health / expected path loss now” </a:t>
            </a:r>
            <a:r>
              <a:rPr lang="en-US" b="0" i="0" dirty="0">
                <a:solidFill>
                  <a:srgbClr val="002060"/>
                </a:solidFill>
                <a:effectLst/>
                <a:latin typeface="fkGroteskNeue"/>
              </a:rPr>
              <a:t>from local sensor + radio context, then act immediately (e.g., transmit only on change, raise reporting when degradation is predicted, reduce uplinks when stable).​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2060"/>
              </a:solidFill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2060"/>
                </a:solidFill>
                <a:effectLst/>
                <a:latin typeface="fkGroteskNeue"/>
              </a:rPr>
              <a:t>Reduce unnecessary LoRaWAN traffic and energy </a:t>
            </a:r>
            <a:r>
              <a:rPr lang="en-US" b="0" i="0" dirty="0">
                <a:solidFill>
                  <a:srgbClr val="002060"/>
                </a:solidFill>
                <a:effectLst/>
                <a:latin typeface="fkGroteskNeue"/>
              </a:rPr>
              <a:t>use by making transmissions event-triggered instead of always periodic, which fits your “communication-aware intelligence” goal.​</a:t>
            </a:r>
          </a:p>
          <a:p>
            <a:pPr algn="l"/>
            <a:endParaRPr lang="en-US" b="0" i="0" dirty="0">
              <a:solidFill>
                <a:srgbClr val="002060"/>
              </a:solidFill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2060"/>
                </a:solidFill>
                <a:effectLst/>
                <a:latin typeface="fkGroteskNeue"/>
              </a:rPr>
              <a:t>Serve as the “client model” for FL rounds: </a:t>
            </a:r>
            <a:r>
              <a:rPr lang="en-US" b="0" i="0" dirty="0">
                <a:solidFill>
                  <a:srgbClr val="002060"/>
                </a:solidFill>
                <a:effectLst/>
                <a:latin typeface="fkGroteskNeue"/>
              </a:rPr>
              <a:t>the node computes small updates from its local data, instead of sending raw data streams.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2060"/>
              </a:solidFill>
              <a:effectLst/>
              <a:latin typeface="fkGrotesk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753EF-20D1-E70E-009F-ED9EF36EB456}"/>
              </a:ext>
            </a:extLst>
          </p:cNvPr>
          <p:cNvSpPr txBox="1"/>
          <p:nvPr/>
        </p:nvSpPr>
        <p:spPr>
          <a:xfrm>
            <a:off x="159319" y="3594333"/>
            <a:ext cx="121833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2060"/>
                </a:solidFill>
                <a:effectLst/>
                <a:latin typeface="fkGroteskNeue"/>
              </a:rPr>
              <a:t>What </a:t>
            </a:r>
            <a:r>
              <a:rPr lang="en-US" b="1" dirty="0">
                <a:solidFill>
                  <a:srgbClr val="002060"/>
                </a:solidFill>
                <a:latin typeface="fkGroteskNeue"/>
              </a:rPr>
              <a:t>we</a:t>
            </a:r>
            <a:r>
              <a:rPr lang="en-US" b="1" i="0" dirty="0">
                <a:solidFill>
                  <a:srgbClr val="002060"/>
                </a:solidFill>
                <a:effectLst/>
                <a:latin typeface="fkGroteskNeue"/>
              </a:rPr>
              <a:t> gain vs </a:t>
            </a:r>
            <a:r>
              <a:rPr lang="en-US" b="1" dirty="0">
                <a:solidFill>
                  <a:srgbClr val="002060"/>
                </a:solidFill>
                <a:latin typeface="fkGroteskNeue"/>
              </a:rPr>
              <a:t>our</a:t>
            </a:r>
            <a:r>
              <a:rPr lang="en-US" b="1" i="0" dirty="0">
                <a:solidFill>
                  <a:srgbClr val="002060"/>
                </a:solidFill>
                <a:effectLst/>
                <a:latin typeface="fkGroteskNeue"/>
              </a:rPr>
              <a:t> last project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2060"/>
                </a:solidFill>
                <a:effectLst/>
                <a:latin typeface="fkGroteskNeue"/>
              </a:rPr>
              <a:t>Continuous adaptation (not “train once”)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 err="1">
                <a:solidFill>
                  <a:srgbClr val="002060"/>
                </a:solidFill>
                <a:effectLst/>
                <a:latin typeface="fkGroteskNeue"/>
              </a:rPr>
              <a:t>TinyML’s</a:t>
            </a:r>
            <a:r>
              <a:rPr lang="en-US" b="0" i="0" dirty="0">
                <a:solidFill>
                  <a:srgbClr val="002060"/>
                </a:solidFill>
                <a:effectLst/>
                <a:latin typeface="fkGroteskNeue"/>
              </a:rPr>
              <a:t> biggest practical edge benefit is local processing: 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2060"/>
                </a:solidFill>
                <a:effectLst/>
                <a:latin typeface="fkGroteskNeue"/>
              </a:rPr>
              <a:t>Communication efficiency and privacy as a side effect:</a:t>
            </a:r>
          </a:p>
        </p:txBody>
      </p:sp>
    </p:spTree>
    <p:extLst>
      <p:ext uri="{BB962C8B-B14F-4D97-AF65-F5344CB8AC3E}">
        <p14:creationId xmlns:p14="http://schemas.microsoft.com/office/powerpoint/2010/main" val="3141077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4762</TotalTime>
  <Words>872</Words>
  <Application>Microsoft Office PowerPoint</Application>
  <PresentationFormat>Widescreen</PresentationFormat>
  <Paragraphs>63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fkGroteskNeue</vt:lpstr>
      <vt:lpstr>Lato</vt:lpstr>
      <vt:lpstr>Noto Sans Symbols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Khadka</dc:creator>
  <cp:lastModifiedBy>Pratik Khadka</cp:lastModifiedBy>
  <cp:revision>2</cp:revision>
  <dcterms:created xsi:type="dcterms:W3CDTF">2026-02-10T07:25:28Z</dcterms:created>
  <dcterms:modified xsi:type="dcterms:W3CDTF">2026-02-14T16:52:13Z</dcterms:modified>
</cp:coreProperties>
</file>