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3" r:id="rId1"/>
    <p:sldMasterId id="2147483694" r:id="rId2"/>
    <p:sldMasterId id="2147483695" r:id="rId3"/>
  </p:sldMasterIdLst>
  <p:notesMasterIdLst>
    <p:notesMasterId r:id="rId13"/>
  </p:notesMasterIdLst>
  <p:sldIdLst>
    <p:sldId id="256" r:id="rId4"/>
    <p:sldId id="289" r:id="rId5"/>
    <p:sldId id="297" r:id="rId6"/>
    <p:sldId id="299" r:id="rId7"/>
    <p:sldId id="300" r:id="rId8"/>
    <p:sldId id="298" r:id="rId9"/>
    <p:sldId id="302" r:id="rId10"/>
    <p:sldId id="304" r:id="rId11"/>
    <p:sldId id="286" r:id="rId12"/>
  </p:sldIdLst>
  <p:sldSz cx="9144000" cy="5143500" type="screen16x9"/>
  <p:notesSz cx="6858000" cy="9144000"/>
  <p:embeddedFontLst>
    <p:embeddedFont>
      <p:font typeface="Noto Sans Symbols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858E16-32BD-4E7D-8E5F-7F2906400B74}">
  <a:tblStyle styleId="{42858E16-32BD-4E7D-8E5F-7F2906400B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30" y="4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font" Target="fonts/font2.fntdata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44dd575e38_2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344dd575e38_2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44dd575e38_2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44dd575e38_2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>
          <a:extLst>
            <a:ext uri="{FF2B5EF4-FFF2-40B4-BE49-F238E27FC236}">
              <a16:creationId xmlns:a16="http://schemas.microsoft.com/office/drawing/2014/main" id="{F3813175-7F04-868E-142D-CC991FA15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44dd575e38_2_207:notes">
            <a:extLst>
              <a:ext uri="{FF2B5EF4-FFF2-40B4-BE49-F238E27FC236}">
                <a16:creationId xmlns:a16="http://schemas.microsoft.com/office/drawing/2014/main" id="{AAADBCF7-D6FB-E45C-9D25-FA900B63E7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44dd575e38_2_207:notes">
            <a:extLst>
              <a:ext uri="{FF2B5EF4-FFF2-40B4-BE49-F238E27FC236}">
                <a16:creationId xmlns:a16="http://schemas.microsoft.com/office/drawing/2014/main" id="{36E4B1C5-F396-B513-6D39-FE0C320C43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8773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>
          <a:extLst>
            <a:ext uri="{FF2B5EF4-FFF2-40B4-BE49-F238E27FC236}">
              <a16:creationId xmlns:a16="http://schemas.microsoft.com/office/drawing/2014/main" id="{FD6994EA-F7A6-4296-65FF-DF3B58C14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44dd575e38_2_207:notes">
            <a:extLst>
              <a:ext uri="{FF2B5EF4-FFF2-40B4-BE49-F238E27FC236}">
                <a16:creationId xmlns:a16="http://schemas.microsoft.com/office/drawing/2014/main" id="{9AB6AF93-B98E-BBE5-74F7-BFC0BD8EC5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44dd575e38_2_207:notes">
            <a:extLst>
              <a:ext uri="{FF2B5EF4-FFF2-40B4-BE49-F238E27FC236}">
                <a16:creationId xmlns:a16="http://schemas.microsoft.com/office/drawing/2014/main" id="{AAAA46B6-F7CE-A110-8C7D-8DDF683571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6853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>
          <a:extLst>
            <a:ext uri="{FF2B5EF4-FFF2-40B4-BE49-F238E27FC236}">
              <a16:creationId xmlns:a16="http://schemas.microsoft.com/office/drawing/2014/main" id="{A46051EF-2C04-23A4-43A2-B5A25306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44dd575e38_2_207:notes">
            <a:extLst>
              <a:ext uri="{FF2B5EF4-FFF2-40B4-BE49-F238E27FC236}">
                <a16:creationId xmlns:a16="http://schemas.microsoft.com/office/drawing/2014/main" id="{ED329187-E3C3-D854-6F82-407F5C3C9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44dd575e38_2_207:notes">
            <a:extLst>
              <a:ext uri="{FF2B5EF4-FFF2-40B4-BE49-F238E27FC236}">
                <a16:creationId xmlns:a16="http://schemas.microsoft.com/office/drawing/2014/main" id="{3418317D-4C5B-0DE7-71BC-A45CA493D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4086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>
          <a:extLst>
            <a:ext uri="{FF2B5EF4-FFF2-40B4-BE49-F238E27FC236}">
              <a16:creationId xmlns:a16="http://schemas.microsoft.com/office/drawing/2014/main" id="{8EA437BF-5C48-A6E1-6DFD-56EB29F21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44dd575e38_2_207:notes">
            <a:extLst>
              <a:ext uri="{FF2B5EF4-FFF2-40B4-BE49-F238E27FC236}">
                <a16:creationId xmlns:a16="http://schemas.microsoft.com/office/drawing/2014/main" id="{9C08D209-600F-CA8F-99FB-FF792CA5A3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44dd575e38_2_207:notes">
            <a:extLst>
              <a:ext uri="{FF2B5EF4-FFF2-40B4-BE49-F238E27FC236}">
                <a16:creationId xmlns:a16="http://schemas.microsoft.com/office/drawing/2014/main" id="{D4684399-4736-BCD6-BDCB-CD25AD3B83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3504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>
          <a:extLst>
            <a:ext uri="{FF2B5EF4-FFF2-40B4-BE49-F238E27FC236}">
              <a16:creationId xmlns:a16="http://schemas.microsoft.com/office/drawing/2014/main" id="{C7D0E3B8-987B-805D-16AF-3533BFE3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44dd575e38_2_207:notes">
            <a:extLst>
              <a:ext uri="{FF2B5EF4-FFF2-40B4-BE49-F238E27FC236}">
                <a16:creationId xmlns:a16="http://schemas.microsoft.com/office/drawing/2014/main" id="{3FEBD213-866F-B8C0-8295-380552F8E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44dd575e38_2_207:notes">
            <a:extLst>
              <a:ext uri="{FF2B5EF4-FFF2-40B4-BE49-F238E27FC236}">
                <a16:creationId xmlns:a16="http://schemas.microsoft.com/office/drawing/2014/main" id="{8C2E66CE-C8F5-5720-2D6E-FBF9C79E4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3553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>
          <a:extLst>
            <a:ext uri="{FF2B5EF4-FFF2-40B4-BE49-F238E27FC236}">
              <a16:creationId xmlns:a16="http://schemas.microsoft.com/office/drawing/2014/main" id="{1497C3FB-511B-F59F-B48F-3ACB54DEA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44dd575e38_2_207:notes">
            <a:extLst>
              <a:ext uri="{FF2B5EF4-FFF2-40B4-BE49-F238E27FC236}">
                <a16:creationId xmlns:a16="http://schemas.microsoft.com/office/drawing/2014/main" id="{42BB10FF-9098-17E8-32F5-E7E5919FB3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44dd575e38_2_207:notes">
            <a:extLst>
              <a:ext uri="{FF2B5EF4-FFF2-40B4-BE49-F238E27FC236}">
                <a16:creationId xmlns:a16="http://schemas.microsoft.com/office/drawing/2014/main" id="{4FC15DF5-15AB-A9EE-798D-9DF7F37FE5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2599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44dd575e38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g344dd575e38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 5">
  <p:cSld name="Titelfolie 5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421404" y="1491630"/>
            <a:ext cx="43740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413538" y="2733768"/>
            <a:ext cx="41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00" rIns="0" bIns="0" anchor="t" anchorCtr="0">
            <a:noAutofit/>
          </a:bodyPr>
          <a:lstStyle>
            <a:lvl1pPr lv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>
                <a:solidFill>
                  <a:schemeClr val="lt1"/>
                </a:solidFill>
              </a:defRPr>
            </a:lvl1pPr>
            <a:lvl2pPr lvl="1" algn="ctr">
              <a:lnSpc>
                <a:spcPct val="117000"/>
              </a:lnSpc>
              <a:spcBef>
                <a:spcPts val="1100"/>
              </a:spcBef>
              <a:spcAft>
                <a:spcPts val="0"/>
              </a:spcAft>
              <a:buClr>
                <a:schemeClr val="accent5"/>
              </a:buClr>
              <a:buSzPts val="1500"/>
              <a:buNone/>
              <a:defRPr sz="1500"/>
            </a:lvl2pPr>
            <a:lvl3pPr lvl="2" algn="ctr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dt" idx="10"/>
          </p:nvPr>
        </p:nvSpPr>
        <p:spPr>
          <a:xfrm>
            <a:off x="413538" y="4515984"/>
            <a:ext cx="1458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2"/>
          </p:nvPr>
        </p:nvSpPr>
        <p:spPr>
          <a:xfrm>
            <a:off x="413538" y="4299960"/>
            <a:ext cx="205144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6678396" y="4569996"/>
            <a:ext cx="210607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4050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www.uni-siegen.de</a:t>
            </a:r>
            <a:endParaRPr sz="1100"/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526" y="308236"/>
            <a:ext cx="1552500" cy="6196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67;p14"/>
          <p:cNvGrpSpPr/>
          <p:nvPr/>
        </p:nvGrpSpPr>
        <p:grpSpPr>
          <a:xfrm>
            <a:off x="-12640" y="-1"/>
            <a:ext cx="9164658" cy="5154637"/>
            <a:chOff x="-16854" y="-1"/>
            <a:chExt cx="12219544" cy="6872849"/>
          </a:xfrm>
        </p:grpSpPr>
        <p:sp>
          <p:nvSpPr>
            <p:cNvPr id="68" name="Google Shape;68;p14"/>
            <p:cNvSpPr/>
            <p:nvPr/>
          </p:nvSpPr>
          <p:spPr>
            <a:xfrm>
              <a:off x="-16854" y="1803867"/>
              <a:ext cx="7783756" cy="5068981"/>
            </a:xfrm>
            <a:custGeom>
              <a:avLst/>
              <a:gdLst/>
              <a:ahLst/>
              <a:cxnLst/>
              <a:rect l="l" t="t" r="r" b="b"/>
              <a:pathLst>
                <a:path w="7783756" h="5068981" extrusionOk="0">
                  <a:moveTo>
                    <a:pt x="0" y="0"/>
                  </a:moveTo>
                  <a:lnTo>
                    <a:pt x="0" y="5068982"/>
                  </a:lnTo>
                  <a:lnTo>
                    <a:pt x="5938779" y="5068982"/>
                  </a:lnTo>
                  <a:lnTo>
                    <a:pt x="778375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6552063" y="-1"/>
              <a:ext cx="5650627" cy="5353950"/>
            </a:xfrm>
            <a:custGeom>
              <a:avLst/>
              <a:gdLst/>
              <a:ahLst/>
              <a:cxnLst/>
              <a:rect l="l" t="t" r="r" b="b"/>
              <a:pathLst>
                <a:path w="5650627" h="5353950" extrusionOk="0">
                  <a:moveTo>
                    <a:pt x="5650628" y="0"/>
                  </a:moveTo>
                  <a:lnTo>
                    <a:pt x="1948707" y="0"/>
                  </a:lnTo>
                  <a:lnTo>
                    <a:pt x="0" y="5353950"/>
                  </a:lnTo>
                  <a:lnTo>
                    <a:pt x="5649610" y="5353950"/>
                  </a:lnTo>
                  <a:lnTo>
                    <a:pt x="5650628" y="5351150"/>
                  </a:lnTo>
                  <a:lnTo>
                    <a:pt x="56506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" name="Google Shape;70;p14"/>
          <p:cNvSpPr/>
          <p:nvPr/>
        </p:nvSpPr>
        <p:spPr>
          <a:xfrm>
            <a:off x="1909167" y="308237"/>
            <a:ext cx="254385" cy="619686"/>
          </a:xfrm>
          <a:prstGeom prst="parallelogram">
            <a:avLst>
              <a:gd name="adj" fmla="val 8879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4693" y="307800"/>
            <a:ext cx="2064878" cy="62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>
  <p:cSld name="Titel und Inhal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413538" y="465594"/>
            <a:ext cx="8316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413538" y="1275972"/>
            <a:ext cx="8316000" cy="3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00" rIns="0" bIns="0" anchor="t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17000"/>
              </a:lnSpc>
              <a:spcBef>
                <a:spcPts val="11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/>
            </a:lvl2pPr>
            <a:lvl3pPr marL="1371600" lvl="2" indent="-317500" algn="l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SzPts val="1400"/>
              <a:buAutoNum type="arabicPeriod"/>
              <a:defRPr/>
            </a:lvl3pPr>
            <a:lvl4pPr marL="1828800" lvl="3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dt" idx="10"/>
          </p:nvPr>
        </p:nvSpPr>
        <p:spPr>
          <a:xfrm>
            <a:off x="7380312" y="48400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ftr" idx="11"/>
          </p:nvPr>
        </p:nvSpPr>
        <p:spPr>
          <a:xfrm>
            <a:off x="4031940" y="4840002"/>
            <a:ext cx="3240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2"/>
          </p:nvPr>
        </p:nvSpPr>
        <p:spPr>
          <a:xfrm>
            <a:off x="414462" y="195486"/>
            <a:ext cx="8316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" anchor="b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">
  <p:cSld name="Titelfoli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857" y="1349978"/>
            <a:ext cx="4654486" cy="3793522"/>
          </a:xfrm>
          <a:custGeom>
            <a:avLst/>
            <a:gdLst/>
            <a:ahLst/>
            <a:cxnLst/>
            <a:rect l="l" t="t" r="r" b="b"/>
            <a:pathLst>
              <a:path w="6205981" h="5058029" extrusionOk="0">
                <a:moveTo>
                  <a:pt x="0" y="0"/>
                </a:moveTo>
                <a:lnTo>
                  <a:pt x="0" y="5058029"/>
                </a:lnTo>
                <a:lnTo>
                  <a:pt x="4364990" y="5058029"/>
                </a:lnTo>
                <a:lnTo>
                  <a:pt x="6205982" y="0"/>
                </a:lnTo>
                <a:lnTo>
                  <a:pt x="0" y="0"/>
                </a:lnTo>
                <a:close/>
              </a:path>
            </a:pathLst>
          </a:custGeom>
          <a:solidFill>
            <a:srgbClr val="5F5B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>
            <a:spLocks noGrp="1"/>
          </p:cNvSpPr>
          <p:nvPr>
            <p:ph type="pic" idx="2"/>
          </p:nvPr>
        </p:nvSpPr>
        <p:spPr>
          <a:xfrm>
            <a:off x="3330607" y="1347701"/>
            <a:ext cx="5813393" cy="3795798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7"/>
          <p:cNvSpPr txBox="1">
            <a:spLocks noGrp="1"/>
          </p:cNvSpPr>
          <p:nvPr>
            <p:ph type="ctrTitle"/>
          </p:nvPr>
        </p:nvSpPr>
        <p:spPr>
          <a:xfrm>
            <a:off x="421404" y="1491630"/>
            <a:ext cx="3610536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1"/>
          </p:nvPr>
        </p:nvSpPr>
        <p:spPr>
          <a:xfrm>
            <a:off x="413538" y="2733768"/>
            <a:ext cx="3132348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00" rIns="0" bIns="0" anchor="t" anchorCtr="0">
            <a:noAutofit/>
          </a:bodyPr>
          <a:lstStyle>
            <a:lvl1pPr lv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>
                <a:solidFill>
                  <a:schemeClr val="lt1"/>
                </a:solidFill>
              </a:defRPr>
            </a:lvl1pPr>
            <a:lvl2pPr lvl="1" algn="ctr">
              <a:lnSpc>
                <a:spcPct val="117000"/>
              </a:lnSpc>
              <a:spcBef>
                <a:spcPts val="1100"/>
              </a:spcBef>
              <a:spcAft>
                <a:spcPts val="0"/>
              </a:spcAft>
              <a:buClr>
                <a:schemeClr val="accent5"/>
              </a:buClr>
              <a:buSzPts val="1500"/>
              <a:buNone/>
              <a:defRPr sz="1500"/>
            </a:lvl2pPr>
            <a:lvl3pPr lvl="2" algn="ctr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dt" idx="10"/>
          </p:nvPr>
        </p:nvSpPr>
        <p:spPr>
          <a:xfrm>
            <a:off x="413538" y="4245936"/>
            <a:ext cx="1458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3"/>
          </p:nvPr>
        </p:nvSpPr>
        <p:spPr>
          <a:xfrm>
            <a:off x="413538" y="4029912"/>
            <a:ext cx="205144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413700" y="4569972"/>
            <a:ext cx="1458000" cy="202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8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uni-siegen.de</a:t>
            </a:r>
            <a:endParaRPr sz="1100"/>
          </a:p>
        </p:txBody>
      </p:sp>
      <p:sp>
        <p:nvSpPr>
          <p:cNvPr id="93" name="Google Shape;93;p17"/>
          <p:cNvSpPr txBox="1"/>
          <p:nvPr/>
        </p:nvSpPr>
        <p:spPr>
          <a:xfrm>
            <a:off x="6678396" y="4569996"/>
            <a:ext cx="210607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4050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www.uni-siegen.de</a:t>
            </a:r>
            <a:endParaRPr sz="1100"/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526" y="308236"/>
            <a:ext cx="1552500" cy="61968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/>
          <p:nvPr/>
        </p:nvSpPr>
        <p:spPr>
          <a:xfrm>
            <a:off x="1909167" y="308237"/>
            <a:ext cx="254385" cy="619686"/>
          </a:xfrm>
          <a:prstGeom prst="parallelogram">
            <a:avLst>
              <a:gd name="adj" fmla="val 8879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4693" y="307800"/>
            <a:ext cx="2064878" cy="62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213">
          <p15:clr>
            <a:srgbClr val="FBAE40"/>
          </p15:clr>
        </p15:guide>
        <p15:guide id="3" orient="horz" pos="85">
          <p15:clr>
            <a:srgbClr val="FBAE40"/>
          </p15:clr>
        </p15:guide>
        <p15:guide id="4" pos="117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 2">
  <p:cSld name="Titelfolie 2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857" y="1349978"/>
            <a:ext cx="4653058" cy="3793522"/>
          </a:xfrm>
          <a:custGeom>
            <a:avLst/>
            <a:gdLst/>
            <a:ahLst/>
            <a:cxnLst/>
            <a:rect l="l" t="t" r="r" b="b"/>
            <a:pathLst>
              <a:path w="6204077" h="5058029" extrusionOk="0">
                <a:moveTo>
                  <a:pt x="0" y="0"/>
                </a:moveTo>
                <a:lnTo>
                  <a:pt x="0" y="5058029"/>
                </a:lnTo>
                <a:lnTo>
                  <a:pt x="4363212" y="5058029"/>
                </a:lnTo>
                <a:lnTo>
                  <a:pt x="620407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 txBox="1">
            <a:spLocks noGrp="1"/>
          </p:cNvSpPr>
          <p:nvPr>
            <p:ph type="ctrTitle"/>
          </p:nvPr>
        </p:nvSpPr>
        <p:spPr>
          <a:xfrm>
            <a:off x="421404" y="1491630"/>
            <a:ext cx="3610536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ubTitle" idx="1"/>
          </p:nvPr>
        </p:nvSpPr>
        <p:spPr>
          <a:xfrm>
            <a:off x="413538" y="2733768"/>
            <a:ext cx="3132348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00" rIns="0" bIns="0" anchor="t" anchorCtr="0">
            <a:noAutofit/>
          </a:bodyPr>
          <a:lstStyle>
            <a:lvl1pPr lv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>
                <a:solidFill>
                  <a:schemeClr val="lt1"/>
                </a:solidFill>
              </a:defRPr>
            </a:lvl1pPr>
            <a:lvl2pPr lvl="1" algn="ctr">
              <a:lnSpc>
                <a:spcPct val="117000"/>
              </a:lnSpc>
              <a:spcBef>
                <a:spcPts val="1100"/>
              </a:spcBef>
              <a:spcAft>
                <a:spcPts val="0"/>
              </a:spcAft>
              <a:buClr>
                <a:schemeClr val="accent5"/>
              </a:buClr>
              <a:buSzPts val="1500"/>
              <a:buNone/>
              <a:defRPr sz="1500"/>
            </a:lvl2pPr>
            <a:lvl3pPr lvl="2" algn="ctr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dt" idx="10"/>
          </p:nvPr>
        </p:nvSpPr>
        <p:spPr>
          <a:xfrm>
            <a:off x="413538" y="4245936"/>
            <a:ext cx="1458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body" idx="2"/>
          </p:nvPr>
        </p:nvSpPr>
        <p:spPr>
          <a:xfrm>
            <a:off x="413538" y="4029912"/>
            <a:ext cx="205144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413700" y="4569972"/>
            <a:ext cx="1458000" cy="202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8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uni-siegen.de</a:t>
            </a:r>
            <a:endParaRPr sz="1100"/>
          </a:p>
        </p:txBody>
      </p:sp>
      <p:sp>
        <p:nvSpPr>
          <p:cNvPr id="104" name="Google Shape;104;p18"/>
          <p:cNvSpPr txBox="1"/>
          <p:nvPr/>
        </p:nvSpPr>
        <p:spPr>
          <a:xfrm>
            <a:off x="6678396" y="4569996"/>
            <a:ext cx="210607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4050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www.uni-siegen.de</a:t>
            </a:r>
            <a:endParaRPr sz="1100"/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526" y="308236"/>
            <a:ext cx="1552500" cy="61968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>
            <a:spLocks noGrp="1"/>
          </p:cNvSpPr>
          <p:nvPr>
            <p:ph type="pic" idx="3"/>
          </p:nvPr>
        </p:nvSpPr>
        <p:spPr>
          <a:xfrm>
            <a:off x="3330607" y="-1"/>
            <a:ext cx="5813393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8"/>
          <p:cNvSpPr/>
          <p:nvPr/>
        </p:nvSpPr>
        <p:spPr>
          <a:xfrm>
            <a:off x="1909167" y="308237"/>
            <a:ext cx="254385" cy="619686"/>
          </a:xfrm>
          <a:prstGeom prst="parallelogram">
            <a:avLst>
              <a:gd name="adj" fmla="val 8879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4693" y="307800"/>
            <a:ext cx="2064878" cy="62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 3">
  <p:cSld name="Titelfolie 3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/>
          <p:nvPr/>
        </p:nvSpPr>
        <p:spPr>
          <a:xfrm>
            <a:off x="857" y="1349978"/>
            <a:ext cx="5829110" cy="3793522"/>
          </a:xfrm>
          <a:custGeom>
            <a:avLst/>
            <a:gdLst/>
            <a:ahLst/>
            <a:cxnLst/>
            <a:rect l="l" t="t" r="r" b="b"/>
            <a:pathLst>
              <a:path w="7772146" h="5058029" extrusionOk="0">
                <a:moveTo>
                  <a:pt x="0" y="0"/>
                </a:moveTo>
                <a:lnTo>
                  <a:pt x="0" y="5058029"/>
                </a:lnTo>
                <a:lnTo>
                  <a:pt x="5931281" y="5058029"/>
                </a:lnTo>
                <a:lnTo>
                  <a:pt x="7772146" y="0"/>
                </a:lnTo>
                <a:lnTo>
                  <a:pt x="0" y="0"/>
                </a:lnTo>
                <a:close/>
              </a:path>
            </a:pathLst>
          </a:custGeom>
          <a:solidFill>
            <a:srgbClr val="5F5B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9"/>
          <p:cNvSpPr txBox="1">
            <a:spLocks noGrp="1"/>
          </p:cNvSpPr>
          <p:nvPr>
            <p:ph type="ctrTitle"/>
          </p:nvPr>
        </p:nvSpPr>
        <p:spPr>
          <a:xfrm>
            <a:off x="421404" y="1491630"/>
            <a:ext cx="43740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subTitle" idx="1"/>
          </p:nvPr>
        </p:nvSpPr>
        <p:spPr>
          <a:xfrm>
            <a:off x="413538" y="2733768"/>
            <a:ext cx="41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00" rIns="0" bIns="0" anchor="t" anchorCtr="0">
            <a:noAutofit/>
          </a:bodyPr>
          <a:lstStyle>
            <a:lvl1pPr lv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>
                <a:solidFill>
                  <a:schemeClr val="lt1"/>
                </a:solidFill>
              </a:defRPr>
            </a:lvl1pPr>
            <a:lvl2pPr lvl="1" algn="ctr">
              <a:lnSpc>
                <a:spcPct val="117000"/>
              </a:lnSpc>
              <a:spcBef>
                <a:spcPts val="1100"/>
              </a:spcBef>
              <a:spcAft>
                <a:spcPts val="0"/>
              </a:spcAft>
              <a:buClr>
                <a:schemeClr val="accent5"/>
              </a:buClr>
              <a:buSzPts val="1500"/>
              <a:buNone/>
              <a:defRPr sz="1500"/>
            </a:lvl2pPr>
            <a:lvl3pPr lvl="2" algn="ctr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dt" idx="10"/>
          </p:nvPr>
        </p:nvSpPr>
        <p:spPr>
          <a:xfrm>
            <a:off x="413538" y="4245936"/>
            <a:ext cx="1458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9"/>
          <p:cNvSpPr>
            <a:spLocks noGrp="1"/>
          </p:cNvSpPr>
          <p:nvPr>
            <p:ph type="pic" idx="2"/>
          </p:nvPr>
        </p:nvSpPr>
        <p:spPr>
          <a:xfrm>
            <a:off x="4924491" y="0"/>
            <a:ext cx="4226102" cy="4002041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9"/>
          <p:cNvSpPr txBox="1">
            <a:spLocks noGrp="1"/>
          </p:cNvSpPr>
          <p:nvPr>
            <p:ph type="body" idx="3"/>
          </p:nvPr>
        </p:nvSpPr>
        <p:spPr>
          <a:xfrm>
            <a:off x="413538" y="4029912"/>
            <a:ext cx="205144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413700" y="4569972"/>
            <a:ext cx="1458000" cy="202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8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uni-siegen.de</a:t>
            </a:r>
            <a:endParaRPr sz="1100"/>
          </a:p>
        </p:txBody>
      </p:sp>
      <p:sp>
        <p:nvSpPr>
          <p:cNvPr id="117" name="Google Shape;117;p19"/>
          <p:cNvSpPr txBox="1"/>
          <p:nvPr/>
        </p:nvSpPr>
        <p:spPr>
          <a:xfrm>
            <a:off x="6678396" y="4569996"/>
            <a:ext cx="210607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4050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www.uni-siegen.de</a:t>
            </a:r>
            <a:endParaRPr sz="1100"/>
          </a:p>
        </p:txBody>
      </p:sp>
      <p:pic>
        <p:nvPicPr>
          <p:cNvPr id="118" name="Google Shape;11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526" y="308236"/>
            <a:ext cx="1552500" cy="61968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/>
          <p:nvPr/>
        </p:nvSpPr>
        <p:spPr>
          <a:xfrm>
            <a:off x="1909167" y="308237"/>
            <a:ext cx="254385" cy="619686"/>
          </a:xfrm>
          <a:prstGeom prst="parallelogram">
            <a:avLst>
              <a:gd name="adj" fmla="val 8879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4693" y="307800"/>
            <a:ext cx="2064878" cy="62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 4">
  <p:cSld name="Titelfolie 4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>
            <a:spLocks noGrp="1"/>
          </p:cNvSpPr>
          <p:nvPr>
            <p:ph type="pic" idx="2"/>
          </p:nvPr>
        </p:nvSpPr>
        <p:spPr>
          <a:xfrm>
            <a:off x="0" y="2644218"/>
            <a:ext cx="9150593" cy="2499281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3" name="Google Shape;123;p20"/>
          <p:cNvGrpSpPr/>
          <p:nvPr/>
        </p:nvGrpSpPr>
        <p:grpSpPr>
          <a:xfrm>
            <a:off x="857" y="1349978"/>
            <a:ext cx="9144857" cy="2241042"/>
            <a:chOff x="1143" y="1799970"/>
            <a:chExt cx="12193142" cy="2988056"/>
          </a:xfrm>
        </p:grpSpPr>
        <p:sp>
          <p:nvSpPr>
            <p:cNvPr id="124" name="Google Shape;124;p20"/>
            <p:cNvSpPr/>
            <p:nvPr/>
          </p:nvSpPr>
          <p:spPr>
            <a:xfrm>
              <a:off x="1143" y="1799970"/>
              <a:ext cx="8394064" cy="1656080"/>
            </a:xfrm>
            <a:custGeom>
              <a:avLst/>
              <a:gdLst/>
              <a:ahLst/>
              <a:cxnLst/>
              <a:rect l="l" t="t" r="r" b="b"/>
              <a:pathLst>
                <a:path w="8394064" h="1656080" extrusionOk="0">
                  <a:moveTo>
                    <a:pt x="7791323" y="0"/>
                  </a:moveTo>
                  <a:lnTo>
                    <a:pt x="0" y="0"/>
                  </a:lnTo>
                  <a:lnTo>
                    <a:pt x="0" y="1655064"/>
                  </a:lnTo>
                  <a:lnTo>
                    <a:pt x="254" y="1656080"/>
                  </a:lnTo>
                  <a:lnTo>
                    <a:pt x="8394065" y="1656080"/>
                  </a:lnTo>
                  <a:lnTo>
                    <a:pt x="77913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0"/>
            <p:cNvSpPr/>
            <p:nvPr/>
          </p:nvSpPr>
          <p:spPr>
            <a:xfrm>
              <a:off x="1143" y="3528059"/>
              <a:ext cx="4962778" cy="1259967"/>
            </a:xfrm>
            <a:custGeom>
              <a:avLst/>
              <a:gdLst/>
              <a:ahLst/>
              <a:cxnLst/>
              <a:rect l="l" t="t" r="r" b="b"/>
              <a:pathLst>
                <a:path w="4962778" h="1259967" extrusionOk="0">
                  <a:moveTo>
                    <a:pt x="0" y="0"/>
                  </a:moveTo>
                  <a:lnTo>
                    <a:pt x="0" y="254"/>
                  </a:lnTo>
                  <a:lnTo>
                    <a:pt x="0" y="1259967"/>
                  </a:lnTo>
                  <a:lnTo>
                    <a:pt x="4504182" y="1259967"/>
                  </a:lnTo>
                  <a:lnTo>
                    <a:pt x="49627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0"/>
            <p:cNvSpPr/>
            <p:nvPr/>
          </p:nvSpPr>
          <p:spPr>
            <a:xfrm>
              <a:off x="8196326" y="2700020"/>
              <a:ext cx="3997959" cy="756030"/>
            </a:xfrm>
            <a:custGeom>
              <a:avLst/>
              <a:gdLst/>
              <a:ahLst/>
              <a:cxnLst/>
              <a:rect l="l" t="t" r="r" b="b"/>
              <a:pathLst>
                <a:path w="3997959" h="756030" extrusionOk="0">
                  <a:moveTo>
                    <a:pt x="3997960" y="0"/>
                  </a:moveTo>
                  <a:lnTo>
                    <a:pt x="0" y="0"/>
                  </a:lnTo>
                  <a:lnTo>
                    <a:pt x="275209" y="756031"/>
                  </a:lnTo>
                  <a:lnTo>
                    <a:pt x="3997960" y="756031"/>
                  </a:lnTo>
                  <a:lnTo>
                    <a:pt x="399796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20"/>
          <p:cNvSpPr txBox="1">
            <a:spLocks noGrp="1"/>
          </p:cNvSpPr>
          <p:nvPr>
            <p:ph type="ctrTitle"/>
          </p:nvPr>
        </p:nvSpPr>
        <p:spPr>
          <a:xfrm>
            <a:off x="421404" y="1545750"/>
            <a:ext cx="4374000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  <a:defRPr sz="2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dt" idx="10"/>
          </p:nvPr>
        </p:nvSpPr>
        <p:spPr>
          <a:xfrm>
            <a:off x="413538" y="3111810"/>
            <a:ext cx="194421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413778" y="2895168"/>
            <a:ext cx="2160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413700" y="4569972"/>
            <a:ext cx="1458000" cy="202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8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uni-siegen.de</a:t>
            </a:r>
            <a:endParaRPr sz="1100"/>
          </a:p>
        </p:txBody>
      </p:sp>
      <p:pic>
        <p:nvPicPr>
          <p:cNvPr id="131" name="Google Shape;131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526" y="308236"/>
            <a:ext cx="1552500" cy="61968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6624228" y="2193732"/>
            <a:ext cx="1458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" tIns="81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uni-siegen.de</a:t>
            </a:r>
            <a:endParaRPr sz="1100"/>
          </a:p>
        </p:txBody>
      </p:sp>
      <p:sp>
        <p:nvSpPr>
          <p:cNvPr id="133" name="Google Shape;133;p20"/>
          <p:cNvSpPr/>
          <p:nvPr/>
        </p:nvSpPr>
        <p:spPr>
          <a:xfrm>
            <a:off x="1909167" y="308237"/>
            <a:ext cx="254385" cy="619686"/>
          </a:xfrm>
          <a:prstGeom prst="parallelogram">
            <a:avLst>
              <a:gd name="adj" fmla="val 8879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4693" y="307800"/>
            <a:ext cx="2064878" cy="62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413538" y="465594"/>
            <a:ext cx="8316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body" idx="1"/>
          </p:nvPr>
        </p:nvSpPr>
        <p:spPr>
          <a:xfrm>
            <a:off x="413538" y="1545636"/>
            <a:ext cx="4914546" cy="2862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sz="1500" b="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 sz="1500"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 sz="1500"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  <a:defRPr sz="1500">
                <a:solidFill>
                  <a:schemeClr val="dk2"/>
                </a:solidFill>
              </a:defRPr>
            </a:lvl5pPr>
            <a:lvl6pPr marL="2743200" lvl="5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>
                <a:solidFill>
                  <a:schemeClr val="dk2"/>
                </a:solidFill>
              </a:defRPr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  <a:defRPr>
                <a:solidFill>
                  <a:schemeClr val="dk2"/>
                </a:solidFill>
              </a:defRPr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  <a:defRPr>
                <a:solidFill>
                  <a:schemeClr val="dk2"/>
                </a:solidFill>
              </a:defRPr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dt" idx="10"/>
          </p:nvPr>
        </p:nvSpPr>
        <p:spPr>
          <a:xfrm>
            <a:off x="7380312" y="48400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ftr" idx="11"/>
          </p:nvPr>
        </p:nvSpPr>
        <p:spPr>
          <a:xfrm>
            <a:off x="4031940" y="4840002"/>
            <a:ext cx="3240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body" idx="2"/>
          </p:nvPr>
        </p:nvSpPr>
        <p:spPr>
          <a:xfrm>
            <a:off x="414114" y="735546"/>
            <a:ext cx="599409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b="0" i="0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100"/>
              <a:buFont typeface="Calibri"/>
              <a:buNone/>
              <a:defRPr sz="2100" b="0" i="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None/>
              <a:defRPr sz="2100" b="0" i="0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None/>
              <a:defRPr sz="2100" b="0" i="0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None/>
              <a:defRPr sz="2100" b="0" i="0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b="0" i="0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b="0" i="0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b="0" i="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42" name="Google Shape;142;p21"/>
          <p:cNvGrpSpPr/>
          <p:nvPr/>
        </p:nvGrpSpPr>
        <p:grpSpPr>
          <a:xfrm>
            <a:off x="-7241" y="970409"/>
            <a:ext cx="9153857" cy="3664632"/>
            <a:chOff x="-9655" y="1293878"/>
            <a:chExt cx="12205142" cy="4886176"/>
          </a:xfrm>
        </p:grpSpPr>
        <p:sp>
          <p:nvSpPr>
            <p:cNvPr id="143" name="Google Shape;143;p21"/>
            <p:cNvSpPr/>
            <p:nvPr/>
          </p:nvSpPr>
          <p:spPr>
            <a:xfrm>
              <a:off x="-9655" y="1801742"/>
              <a:ext cx="8900148" cy="4378312"/>
            </a:xfrm>
            <a:custGeom>
              <a:avLst/>
              <a:gdLst/>
              <a:ahLst/>
              <a:cxnLst/>
              <a:rect l="l" t="t" r="r" b="b"/>
              <a:pathLst>
                <a:path w="8900148" h="4378312" extrusionOk="0">
                  <a:moveTo>
                    <a:pt x="0" y="0"/>
                  </a:moveTo>
                  <a:lnTo>
                    <a:pt x="0" y="4378313"/>
                  </a:lnTo>
                  <a:lnTo>
                    <a:pt x="7306510" y="4378313"/>
                  </a:lnTo>
                  <a:lnTo>
                    <a:pt x="89001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B9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1"/>
            <p:cNvSpPr/>
            <p:nvPr/>
          </p:nvSpPr>
          <p:spPr>
            <a:xfrm>
              <a:off x="7558476" y="1293878"/>
              <a:ext cx="4637011" cy="4378439"/>
            </a:xfrm>
            <a:custGeom>
              <a:avLst/>
              <a:gdLst/>
              <a:ahLst/>
              <a:cxnLst/>
              <a:rect l="l" t="t" r="r" b="b"/>
              <a:pathLst>
                <a:path w="4637011" h="4378439" extrusionOk="0">
                  <a:moveTo>
                    <a:pt x="4637012" y="0"/>
                  </a:moveTo>
                  <a:lnTo>
                    <a:pt x="1593640" y="0"/>
                  </a:lnTo>
                  <a:lnTo>
                    <a:pt x="0" y="4378440"/>
                  </a:lnTo>
                  <a:lnTo>
                    <a:pt x="4635868" y="4378440"/>
                  </a:lnTo>
                  <a:lnTo>
                    <a:pt x="4637012" y="4375388"/>
                  </a:lnTo>
                  <a:lnTo>
                    <a:pt x="4637012" y="0"/>
                  </a:lnTo>
                  <a:close/>
                </a:path>
              </a:pathLst>
            </a:custGeom>
            <a:solidFill>
              <a:srgbClr val="A78EC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bschnitts-&#10;überschrift" type="secHead">
  <p:cSld name="SECTION_HEADER">
    <p:bg>
      <p:bgPr>
        <a:solidFill>
          <a:srgbClr val="A78EC2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>
            <a:spLocks noGrp="1"/>
          </p:cNvSpPr>
          <p:nvPr>
            <p:ph type="body" idx="1"/>
          </p:nvPr>
        </p:nvSpPr>
        <p:spPr>
          <a:xfrm>
            <a:off x="413538" y="494100"/>
            <a:ext cx="3078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00" rIns="0" bIns="0" anchor="t" anchorCtr="0">
            <a:noAutofit/>
          </a:bodyPr>
          <a:lstStyle>
            <a:lvl1pPr marL="457200" lvl="0" indent="-22860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0"/>
              <a:buNone/>
              <a:defRPr sz="360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1100"/>
              </a:spcBef>
              <a:spcAft>
                <a:spcPts val="0"/>
              </a:spcAft>
              <a:buClr>
                <a:srgbClr val="888E9B"/>
              </a:buClr>
              <a:buSzPts val="1500"/>
              <a:buNone/>
              <a:defRPr sz="1500">
                <a:solidFill>
                  <a:srgbClr val="888E9B"/>
                </a:solidFill>
              </a:defRPr>
            </a:lvl2pPr>
            <a:lvl3pPr marL="1371600" lvl="2" indent="-228600" algn="l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E9B"/>
                </a:solidFill>
              </a:defRPr>
            </a:lvl3pPr>
            <a:lvl4pPr marL="1828800" lvl="3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E9B"/>
                </a:solidFill>
              </a:defRPr>
            </a:lvl4pPr>
            <a:lvl5pPr marL="2286000" lvl="4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E9B"/>
                </a:solidFill>
              </a:defRPr>
            </a:lvl5pPr>
            <a:lvl6pPr marL="2743200" lvl="5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E9B"/>
                </a:solidFill>
              </a:defRPr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888E9B"/>
              </a:buClr>
              <a:buSzPts val="1200"/>
              <a:buNone/>
              <a:defRPr sz="1200">
                <a:solidFill>
                  <a:srgbClr val="888E9B"/>
                </a:solidFill>
              </a:defRPr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888E9B"/>
              </a:buClr>
              <a:buSzPts val="1200"/>
              <a:buNone/>
              <a:defRPr sz="1200">
                <a:solidFill>
                  <a:srgbClr val="888E9B"/>
                </a:solidFill>
              </a:defRPr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888E9B"/>
              </a:buClr>
              <a:buSzPts val="1200"/>
              <a:buNone/>
              <a:defRPr sz="1200">
                <a:solidFill>
                  <a:srgbClr val="888E9B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1774404" y="0"/>
            <a:ext cx="7369596" cy="5143500"/>
          </a:xfrm>
          <a:prstGeom prst="rect">
            <a:avLst/>
          </a:prstGeom>
          <a:solidFill>
            <a:srgbClr val="5F5B93"/>
          </a:solidFill>
          <a:ln>
            <a:noFill/>
          </a:ln>
        </p:spPr>
        <p:txBody>
          <a:bodyPr spcFirstLastPara="1" wrap="square" lIns="1215000" tIns="0" rIns="0" bIns="8640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apitel Layout 2">
  <p:cSld name="Kapitel Layout 2">
    <p:bg>
      <p:bgPr>
        <a:solidFill>
          <a:schemeClr val="accent2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title"/>
          </p:nvPr>
        </p:nvSpPr>
        <p:spPr>
          <a:xfrm>
            <a:off x="413538" y="1167594"/>
            <a:ext cx="37800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libri"/>
              <a:buNone/>
              <a:defRPr sz="3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/>
          <p:nvPr/>
        </p:nvSpPr>
        <p:spPr>
          <a:xfrm>
            <a:off x="4438078" y="0"/>
            <a:ext cx="4707635" cy="5143500"/>
          </a:xfrm>
          <a:custGeom>
            <a:avLst/>
            <a:gdLst/>
            <a:ahLst/>
            <a:cxnLst/>
            <a:rect l="l" t="t" r="r" b="b"/>
            <a:pathLst>
              <a:path w="6276847" h="6858000" extrusionOk="0">
                <a:moveTo>
                  <a:pt x="6276848" y="0"/>
                </a:moveTo>
                <a:lnTo>
                  <a:pt x="2496058" y="0"/>
                </a:lnTo>
                <a:lnTo>
                  <a:pt x="0" y="6858000"/>
                </a:lnTo>
                <a:lnTo>
                  <a:pt x="6276086" y="6858000"/>
                </a:lnTo>
                <a:lnTo>
                  <a:pt x="6276848" y="6855841"/>
                </a:lnTo>
                <a:lnTo>
                  <a:pt x="62768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apitel Layout 3">
  <p:cSld name="Kapitel Layout 3">
    <p:bg>
      <p:bgPr>
        <a:solidFill>
          <a:srgbClr val="A78EC2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0" y="951570"/>
            <a:ext cx="5129038" cy="1944000"/>
          </a:xfrm>
          <a:prstGeom prst="rect">
            <a:avLst/>
          </a:prstGeom>
          <a:solidFill>
            <a:srgbClr val="5F5B93"/>
          </a:solidFill>
          <a:ln>
            <a:noFill/>
          </a:ln>
        </p:spPr>
        <p:txBody>
          <a:bodyPr spcFirstLastPara="1" wrap="square" lIns="410400" tIns="243000" rIns="48600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libri"/>
              <a:buNone/>
              <a:defRPr sz="3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apitel Layout 4">
  <p:cSld name="Kapitel Layout 4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0" y="951570"/>
            <a:ext cx="5129038" cy="19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410400" tIns="243000" rIns="48600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libri"/>
              <a:buNone/>
              <a:defRPr sz="3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>
  <p:cSld name="Zwei Inhalte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title"/>
          </p:nvPr>
        </p:nvSpPr>
        <p:spPr>
          <a:xfrm>
            <a:off x="413538" y="465594"/>
            <a:ext cx="8316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body" idx="1"/>
          </p:nvPr>
        </p:nvSpPr>
        <p:spPr>
          <a:xfrm>
            <a:off x="413538" y="1275606"/>
            <a:ext cx="3996000" cy="3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00" rIns="0" bIns="0" anchor="t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17000"/>
              </a:lnSpc>
              <a:spcBef>
                <a:spcPts val="11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/>
            </a:lvl2pPr>
            <a:lvl3pPr marL="1371600" lvl="2" indent="-317500" algn="l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SzPts val="1400"/>
              <a:buAutoNum type="arabicPeriod"/>
              <a:defRPr/>
            </a:lvl3pPr>
            <a:lvl4pPr marL="1828800" lvl="3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body" idx="2"/>
          </p:nvPr>
        </p:nvSpPr>
        <p:spPr>
          <a:xfrm>
            <a:off x="4734456" y="1275606"/>
            <a:ext cx="3996000" cy="3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00" rIns="0" bIns="0" anchor="t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17000"/>
              </a:lnSpc>
              <a:spcBef>
                <a:spcPts val="11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/>
            </a:lvl2pPr>
            <a:lvl3pPr marL="1371600" lvl="2" indent="-317500" algn="l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SzPts val="1400"/>
              <a:buAutoNum type="arabicPeriod"/>
              <a:defRPr/>
            </a:lvl3pPr>
            <a:lvl4pPr marL="1828800" lvl="3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6"/>
          <p:cNvSpPr txBox="1">
            <a:spLocks noGrp="1"/>
          </p:cNvSpPr>
          <p:nvPr>
            <p:ph type="dt" idx="10"/>
          </p:nvPr>
        </p:nvSpPr>
        <p:spPr>
          <a:xfrm>
            <a:off x="7380312" y="48400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ftr" idx="11"/>
          </p:nvPr>
        </p:nvSpPr>
        <p:spPr>
          <a:xfrm>
            <a:off x="4031940" y="4840002"/>
            <a:ext cx="3240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body" idx="3"/>
          </p:nvPr>
        </p:nvSpPr>
        <p:spPr>
          <a:xfrm>
            <a:off x="414462" y="195486"/>
            <a:ext cx="8316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" anchor="b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Bild und Inhalt">
  <p:cSld name="1 Bild und Inhal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title"/>
          </p:nvPr>
        </p:nvSpPr>
        <p:spPr>
          <a:xfrm>
            <a:off x="413538" y="465594"/>
            <a:ext cx="8316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body" idx="1"/>
          </p:nvPr>
        </p:nvSpPr>
        <p:spPr>
          <a:xfrm>
            <a:off x="4734018" y="1275978"/>
            <a:ext cx="3996000" cy="3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00" rIns="0" bIns="0" anchor="t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17000"/>
              </a:lnSpc>
              <a:spcBef>
                <a:spcPts val="11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/>
            </a:lvl2pPr>
            <a:lvl3pPr marL="1371600" lvl="2" indent="-317500" algn="l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SzPts val="1400"/>
              <a:buAutoNum type="arabicPeriod"/>
              <a:defRPr/>
            </a:lvl3pPr>
            <a:lvl4pPr marL="1828800" lvl="3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7"/>
          <p:cNvSpPr txBox="1">
            <a:spLocks noGrp="1"/>
          </p:cNvSpPr>
          <p:nvPr>
            <p:ph type="dt" idx="10"/>
          </p:nvPr>
        </p:nvSpPr>
        <p:spPr>
          <a:xfrm>
            <a:off x="7380312" y="48400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7"/>
          <p:cNvSpPr txBox="1">
            <a:spLocks noGrp="1"/>
          </p:cNvSpPr>
          <p:nvPr>
            <p:ph type="ftr" idx="11"/>
          </p:nvPr>
        </p:nvSpPr>
        <p:spPr>
          <a:xfrm>
            <a:off x="4031940" y="4840002"/>
            <a:ext cx="3240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7"/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0" name="Google Shape;170;p27"/>
          <p:cNvSpPr>
            <a:spLocks noGrp="1"/>
          </p:cNvSpPr>
          <p:nvPr>
            <p:ph type="pic" idx="2"/>
          </p:nvPr>
        </p:nvSpPr>
        <p:spPr>
          <a:xfrm>
            <a:off x="413538" y="1383978"/>
            <a:ext cx="3996000" cy="32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27"/>
          <p:cNvSpPr txBox="1">
            <a:spLocks noGrp="1"/>
          </p:cNvSpPr>
          <p:nvPr>
            <p:ph type="body" idx="3"/>
          </p:nvPr>
        </p:nvSpPr>
        <p:spPr>
          <a:xfrm>
            <a:off x="414462" y="195486"/>
            <a:ext cx="8316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" anchor="b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 und Hervorhebung">
  <p:cSld name="Bild und Hervorhebung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/>
          <p:nvPr/>
        </p:nvSpPr>
        <p:spPr>
          <a:xfrm>
            <a:off x="3620071" y="1349978"/>
            <a:ext cx="5525642" cy="2723006"/>
          </a:xfrm>
          <a:custGeom>
            <a:avLst/>
            <a:gdLst/>
            <a:ahLst/>
            <a:cxnLst/>
            <a:rect l="l" t="t" r="r" b="b"/>
            <a:pathLst>
              <a:path w="7367523" h="3630675" extrusionOk="0">
                <a:moveTo>
                  <a:pt x="7367524" y="0"/>
                </a:moveTo>
                <a:lnTo>
                  <a:pt x="1321435" y="0"/>
                </a:lnTo>
                <a:lnTo>
                  <a:pt x="0" y="3630676"/>
                </a:lnTo>
                <a:lnTo>
                  <a:pt x="7367524" y="3630676"/>
                </a:lnTo>
                <a:lnTo>
                  <a:pt x="736752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8"/>
          <p:cNvSpPr txBox="1">
            <a:spLocks noGrp="1"/>
          </p:cNvSpPr>
          <p:nvPr>
            <p:ph type="title"/>
          </p:nvPr>
        </p:nvSpPr>
        <p:spPr>
          <a:xfrm>
            <a:off x="413538" y="465594"/>
            <a:ext cx="8316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8"/>
          <p:cNvSpPr txBox="1">
            <a:spLocks noGrp="1"/>
          </p:cNvSpPr>
          <p:nvPr>
            <p:ph type="body" idx="1"/>
          </p:nvPr>
        </p:nvSpPr>
        <p:spPr>
          <a:xfrm>
            <a:off x="4734018" y="1545636"/>
            <a:ext cx="4104456" cy="22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0" bIns="0" anchor="t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6" name="Google Shape;176;p28"/>
          <p:cNvSpPr txBox="1">
            <a:spLocks noGrp="1"/>
          </p:cNvSpPr>
          <p:nvPr>
            <p:ph type="dt" idx="10"/>
          </p:nvPr>
        </p:nvSpPr>
        <p:spPr>
          <a:xfrm>
            <a:off x="7380312" y="48400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8"/>
          <p:cNvSpPr txBox="1">
            <a:spLocks noGrp="1"/>
          </p:cNvSpPr>
          <p:nvPr>
            <p:ph type="ftr" idx="11"/>
          </p:nvPr>
        </p:nvSpPr>
        <p:spPr>
          <a:xfrm>
            <a:off x="4031940" y="4840002"/>
            <a:ext cx="3240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8"/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28"/>
          <p:cNvSpPr>
            <a:spLocks noGrp="1"/>
          </p:cNvSpPr>
          <p:nvPr>
            <p:ph type="pic" idx="2"/>
          </p:nvPr>
        </p:nvSpPr>
        <p:spPr>
          <a:xfrm>
            <a:off x="1" y="1869672"/>
            <a:ext cx="4360500" cy="2756092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8"/>
          <p:cNvSpPr txBox="1">
            <a:spLocks noGrp="1"/>
          </p:cNvSpPr>
          <p:nvPr>
            <p:ph type="body" idx="3"/>
          </p:nvPr>
        </p:nvSpPr>
        <p:spPr>
          <a:xfrm>
            <a:off x="414462" y="195486"/>
            <a:ext cx="8316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" anchor="b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elle und Text">
  <p:cSld name="Tabelle und Tex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>
            <a:spLocks noGrp="1"/>
          </p:cNvSpPr>
          <p:nvPr>
            <p:ph type="title"/>
          </p:nvPr>
        </p:nvSpPr>
        <p:spPr>
          <a:xfrm>
            <a:off x="413538" y="465594"/>
            <a:ext cx="8316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9"/>
          <p:cNvSpPr txBox="1">
            <a:spLocks noGrp="1"/>
          </p:cNvSpPr>
          <p:nvPr>
            <p:ph type="dt" idx="10"/>
          </p:nvPr>
        </p:nvSpPr>
        <p:spPr>
          <a:xfrm>
            <a:off x="7380312" y="48400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9"/>
          <p:cNvSpPr txBox="1">
            <a:spLocks noGrp="1"/>
          </p:cNvSpPr>
          <p:nvPr>
            <p:ph type="ftr" idx="11"/>
          </p:nvPr>
        </p:nvSpPr>
        <p:spPr>
          <a:xfrm>
            <a:off x="4031940" y="4840002"/>
            <a:ext cx="3240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9"/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6" name="Google Shape;186;p29"/>
          <p:cNvSpPr txBox="1">
            <a:spLocks noGrp="1"/>
          </p:cNvSpPr>
          <p:nvPr>
            <p:ph type="body" idx="1"/>
          </p:nvPr>
        </p:nvSpPr>
        <p:spPr>
          <a:xfrm>
            <a:off x="414462" y="195486"/>
            <a:ext cx="8316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" anchor="b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29"/>
          <p:cNvSpPr txBox="1">
            <a:spLocks noGrp="1"/>
          </p:cNvSpPr>
          <p:nvPr>
            <p:ph type="body" idx="2"/>
          </p:nvPr>
        </p:nvSpPr>
        <p:spPr>
          <a:xfrm>
            <a:off x="6138174" y="1275940"/>
            <a:ext cx="2591488" cy="3348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00" rIns="0" bIns="0" anchor="t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17000"/>
              </a:lnSpc>
              <a:spcBef>
                <a:spcPts val="11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/>
            </a:lvl2pPr>
            <a:lvl3pPr marL="1371600" lvl="2" indent="-317500" algn="l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SzPts val="1400"/>
              <a:buAutoNum type="arabicPeriod"/>
              <a:defRPr/>
            </a:lvl3pPr>
            <a:lvl4pPr marL="1828800" lvl="3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Bilder">
  <p:cSld name="3 Bilder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>
            <a:spLocks noGrp="1"/>
          </p:cNvSpPr>
          <p:nvPr>
            <p:ph type="title"/>
          </p:nvPr>
        </p:nvSpPr>
        <p:spPr>
          <a:xfrm>
            <a:off x="413538" y="465594"/>
            <a:ext cx="8316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0"/>
          <p:cNvSpPr txBox="1">
            <a:spLocks noGrp="1"/>
          </p:cNvSpPr>
          <p:nvPr>
            <p:ph type="dt" idx="10"/>
          </p:nvPr>
        </p:nvSpPr>
        <p:spPr>
          <a:xfrm>
            <a:off x="7380312" y="48400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30"/>
          <p:cNvSpPr txBox="1">
            <a:spLocks noGrp="1"/>
          </p:cNvSpPr>
          <p:nvPr>
            <p:ph type="ftr" idx="11"/>
          </p:nvPr>
        </p:nvSpPr>
        <p:spPr>
          <a:xfrm>
            <a:off x="4031940" y="4840002"/>
            <a:ext cx="3240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0"/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3" name="Google Shape;193;p30"/>
          <p:cNvSpPr>
            <a:spLocks noGrp="1"/>
          </p:cNvSpPr>
          <p:nvPr>
            <p:ph type="pic" idx="2"/>
          </p:nvPr>
        </p:nvSpPr>
        <p:spPr>
          <a:xfrm>
            <a:off x="413538" y="1383858"/>
            <a:ext cx="2593181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30"/>
          <p:cNvSpPr txBox="1">
            <a:spLocks noGrp="1"/>
          </p:cNvSpPr>
          <p:nvPr>
            <p:ph type="body" idx="1"/>
          </p:nvPr>
        </p:nvSpPr>
        <p:spPr>
          <a:xfrm>
            <a:off x="413538" y="3597864"/>
            <a:ext cx="2593181" cy="1026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00" rIns="0" bIns="0" anchor="t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None/>
              <a:defRPr sz="1100" b="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Calibri"/>
              <a:buNone/>
              <a:defRPr sz="1100" b="0">
                <a:solidFill>
                  <a:schemeClr val="accent4"/>
                </a:solidFill>
              </a:defRPr>
            </a:lvl2pPr>
            <a:lvl3pPr marL="1371600" lvl="2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>
                <a:solidFill>
                  <a:schemeClr val="accent4"/>
                </a:solidFill>
              </a:defRPr>
            </a:lvl3pPr>
            <a:lvl4pPr marL="1828800" lvl="3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>
                <a:solidFill>
                  <a:schemeClr val="accent4"/>
                </a:solidFill>
              </a:defRPr>
            </a:lvl4pPr>
            <a:lvl5pPr marL="2286000" lvl="4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>
                <a:solidFill>
                  <a:schemeClr val="accent4"/>
                </a:solidFill>
              </a:defRPr>
            </a:lvl5pPr>
            <a:lvl6pPr marL="2743200" lvl="5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30"/>
          <p:cNvSpPr>
            <a:spLocks noGrp="1"/>
          </p:cNvSpPr>
          <p:nvPr>
            <p:ph type="pic" idx="3"/>
          </p:nvPr>
        </p:nvSpPr>
        <p:spPr>
          <a:xfrm>
            <a:off x="3274963" y="1383858"/>
            <a:ext cx="2593181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30"/>
          <p:cNvSpPr txBox="1">
            <a:spLocks noGrp="1"/>
          </p:cNvSpPr>
          <p:nvPr>
            <p:ph type="body" idx="4"/>
          </p:nvPr>
        </p:nvSpPr>
        <p:spPr>
          <a:xfrm>
            <a:off x="3275856" y="3597864"/>
            <a:ext cx="2593181" cy="1026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00" rIns="0" bIns="0" anchor="t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None/>
              <a:defRPr sz="1100" b="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Calibri"/>
              <a:buNone/>
              <a:defRPr sz="1100" b="0">
                <a:solidFill>
                  <a:schemeClr val="accent4"/>
                </a:solidFill>
              </a:defRPr>
            </a:lvl2pPr>
            <a:lvl3pPr marL="1371600" lvl="2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>
                <a:solidFill>
                  <a:schemeClr val="accent4"/>
                </a:solidFill>
              </a:defRPr>
            </a:lvl3pPr>
            <a:lvl4pPr marL="1828800" lvl="3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>
                <a:solidFill>
                  <a:schemeClr val="accent4"/>
                </a:solidFill>
              </a:defRPr>
            </a:lvl4pPr>
            <a:lvl5pPr marL="2286000" lvl="4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>
                <a:solidFill>
                  <a:schemeClr val="accent4"/>
                </a:solidFill>
              </a:defRPr>
            </a:lvl5pPr>
            <a:lvl6pPr marL="2743200" lvl="5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30"/>
          <p:cNvSpPr>
            <a:spLocks noGrp="1"/>
          </p:cNvSpPr>
          <p:nvPr>
            <p:ph type="pic" idx="5"/>
          </p:nvPr>
        </p:nvSpPr>
        <p:spPr>
          <a:xfrm>
            <a:off x="6137281" y="1383858"/>
            <a:ext cx="2593181" cy="21600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30"/>
          <p:cNvSpPr txBox="1">
            <a:spLocks noGrp="1"/>
          </p:cNvSpPr>
          <p:nvPr>
            <p:ph type="body" idx="6"/>
          </p:nvPr>
        </p:nvSpPr>
        <p:spPr>
          <a:xfrm>
            <a:off x="6138174" y="3597864"/>
            <a:ext cx="2593181" cy="1026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00" rIns="0" bIns="0" anchor="t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None/>
              <a:defRPr sz="1100" b="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Calibri"/>
              <a:buNone/>
              <a:defRPr sz="1100" b="0">
                <a:solidFill>
                  <a:schemeClr val="accent4"/>
                </a:solidFill>
              </a:defRPr>
            </a:lvl2pPr>
            <a:lvl3pPr marL="1371600" lvl="2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>
                <a:solidFill>
                  <a:schemeClr val="accent4"/>
                </a:solidFill>
              </a:defRPr>
            </a:lvl3pPr>
            <a:lvl4pPr marL="1828800" lvl="3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>
                <a:solidFill>
                  <a:schemeClr val="accent4"/>
                </a:solidFill>
              </a:defRPr>
            </a:lvl4pPr>
            <a:lvl5pPr marL="2286000" lvl="4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>
                <a:solidFill>
                  <a:schemeClr val="accent4"/>
                </a:solidFill>
              </a:defRPr>
            </a:lvl5pPr>
            <a:lvl6pPr marL="2743200" lvl="5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0"/>
          <p:cNvSpPr txBox="1">
            <a:spLocks noGrp="1"/>
          </p:cNvSpPr>
          <p:nvPr>
            <p:ph type="body" idx="7"/>
          </p:nvPr>
        </p:nvSpPr>
        <p:spPr>
          <a:xfrm>
            <a:off x="414462" y="195486"/>
            <a:ext cx="8316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" anchor="b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Bilder Hervorhebung">
  <p:cSld name="3 Bilder Hervorhebung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>
            <a:spLocks noGrp="1"/>
          </p:cNvSpPr>
          <p:nvPr>
            <p:ph type="title"/>
          </p:nvPr>
        </p:nvSpPr>
        <p:spPr>
          <a:xfrm>
            <a:off x="413538" y="465594"/>
            <a:ext cx="8316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31"/>
          <p:cNvSpPr txBox="1">
            <a:spLocks noGrp="1"/>
          </p:cNvSpPr>
          <p:nvPr>
            <p:ph type="dt" idx="10"/>
          </p:nvPr>
        </p:nvSpPr>
        <p:spPr>
          <a:xfrm>
            <a:off x="7380312" y="48400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31"/>
          <p:cNvSpPr txBox="1">
            <a:spLocks noGrp="1"/>
          </p:cNvSpPr>
          <p:nvPr>
            <p:ph type="ftr" idx="11"/>
          </p:nvPr>
        </p:nvSpPr>
        <p:spPr>
          <a:xfrm>
            <a:off x="4031940" y="4840002"/>
            <a:ext cx="3240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31"/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5" name="Google Shape;205;p31"/>
          <p:cNvSpPr>
            <a:spLocks noGrp="1"/>
          </p:cNvSpPr>
          <p:nvPr>
            <p:ph type="pic" idx="2"/>
          </p:nvPr>
        </p:nvSpPr>
        <p:spPr>
          <a:xfrm>
            <a:off x="413538" y="1383816"/>
            <a:ext cx="2593181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31"/>
          <p:cNvSpPr txBox="1">
            <a:spLocks noGrp="1"/>
          </p:cNvSpPr>
          <p:nvPr>
            <p:ph type="body" idx="1"/>
          </p:nvPr>
        </p:nvSpPr>
        <p:spPr>
          <a:xfrm>
            <a:off x="413538" y="3165816"/>
            <a:ext cx="2593181" cy="14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6900" tIns="81000" rIns="121500" bIns="54000" anchor="t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1pPr>
            <a:lvl2pPr marL="914400" lvl="1" indent="-228600" algn="l">
              <a:lnSpc>
                <a:spcPct val="117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SzPts val="1100"/>
              <a:buAutoNum type="arabicPeriod"/>
              <a:defRPr sz="1100" b="0"/>
            </a:lvl3pPr>
            <a:lvl4pPr marL="1828800" lvl="3" indent="-29845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 b="0"/>
            </a:lvl4pPr>
            <a:lvl5pPr marL="2286000" lvl="4" indent="-29845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 b="0"/>
            </a:lvl5pPr>
            <a:lvl6pPr marL="2743200" lvl="5" indent="-29845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07" name="Google Shape;207;p31"/>
          <p:cNvSpPr>
            <a:spLocks noGrp="1"/>
          </p:cNvSpPr>
          <p:nvPr>
            <p:ph type="pic" idx="3"/>
          </p:nvPr>
        </p:nvSpPr>
        <p:spPr>
          <a:xfrm>
            <a:off x="3275409" y="1383816"/>
            <a:ext cx="2593181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31"/>
          <p:cNvSpPr txBox="1">
            <a:spLocks noGrp="1"/>
          </p:cNvSpPr>
          <p:nvPr>
            <p:ph type="body" idx="4"/>
          </p:nvPr>
        </p:nvSpPr>
        <p:spPr>
          <a:xfrm>
            <a:off x="3275409" y="3165816"/>
            <a:ext cx="2593181" cy="14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6900" tIns="81000" rIns="121500" bIns="54000" anchor="t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1pPr>
            <a:lvl2pPr marL="914400" lvl="1" indent="-228600" algn="l">
              <a:lnSpc>
                <a:spcPct val="117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SzPts val="1100"/>
              <a:buAutoNum type="arabicPeriod"/>
              <a:defRPr sz="1100" b="0"/>
            </a:lvl3pPr>
            <a:lvl4pPr marL="1828800" lvl="3" indent="-29845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 b="0"/>
            </a:lvl4pPr>
            <a:lvl5pPr marL="2286000" lvl="4" indent="-29845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 b="0"/>
            </a:lvl5pPr>
            <a:lvl6pPr marL="2743200" lvl="5" indent="-29845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09" name="Google Shape;209;p31"/>
          <p:cNvSpPr>
            <a:spLocks noGrp="1"/>
          </p:cNvSpPr>
          <p:nvPr>
            <p:ph type="pic" idx="5"/>
          </p:nvPr>
        </p:nvSpPr>
        <p:spPr>
          <a:xfrm>
            <a:off x="6137280" y="1383815"/>
            <a:ext cx="2593181" cy="172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31"/>
          <p:cNvSpPr txBox="1">
            <a:spLocks noGrp="1"/>
          </p:cNvSpPr>
          <p:nvPr>
            <p:ph type="body" idx="6"/>
          </p:nvPr>
        </p:nvSpPr>
        <p:spPr>
          <a:xfrm>
            <a:off x="6138174" y="3165816"/>
            <a:ext cx="2593181" cy="14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6900" tIns="81000" rIns="121500" bIns="54000" anchor="t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1pPr>
            <a:lvl2pPr marL="914400" lvl="1" indent="-228600" algn="l">
              <a:lnSpc>
                <a:spcPct val="117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SzPts val="1100"/>
              <a:buAutoNum type="arabicPeriod"/>
              <a:defRPr sz="1100" b="0"/>
            </a:lvl3pPr>
            <a:lvl4pPr marL="1828800" lvl="3" indent="-29845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 b="0"/>
            </a:lvl4pPr>
            <a:lvl5pPr marL="2286000" lvl="4" indent="-29845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 b="0"/>
            </a:lvl5pPr>
            <a:lvl6pPr marL="2743200" lvl="5" indent="-29845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11" name="Google Shape;211;p31"/>
          <p:cNvSpPr txBox="1">
            <a:spLocks noGrp="1"/>
          </p:cNvSpPr>
          <p:nvPr>
            <p:ph type="body" idx="7"/>
          </p:nvPr>
        </p:nvSpPr>
        <p:spPr>
          <a:xfrm>
            <a:off x="414462" y="195486"/>
            <a:ext cx="8316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" anchor="b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">
  <p:cSld name="Zitat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>
            <a:spLocks noGrp="1"/>
          </p:cNvSpPr>
          <p:nvPr>
            <p:ph type="dt" idx="10"/>
          </p:nvPr>
        </p:nvSpPr>
        <p:spPr>
          <a:xfrm>
            <a:off x="7380312" y="48400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2"/>
          <p:cNvSpPr txBox="1">
            <a:spLocks noGrp="1"/>
          </p:cNvSpPr>
          <p:nvPr>
            <p:ph type="ftr" idx="11"/>
          </p:nvPr>
        </p:nvSpPr>
        <p:spPr>
          <a:xfrm>
            <a:off x="4031940" y="4840002"/>
            <a:ext cx="3240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32"/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6" name="Google Shape;216;p32"/>
          <p:cNvSpPr txBox="1">
            <a:spLocks noGrp="1"/>
          </p:cNvSpPr>
          <p:nvPr>
            <p:ph type="body" idx="1"/>
          </p:nvPr>
        </p:nvSpPr>
        <p:spPr>
          <a:xfrm>
            <a:off x="413538" y="1221600"/>
            <a:ext cx="5509022" cy="243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0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11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000"/>
              <a:buFont typeface="Calibri"/>
              <a:buNone/>
              <a:defRPr sz="3000" b="1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alibri"/>
              <a:buNone/>
              <a:defRPr sz="3000" b="1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0" b="1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32"/>
          <p:cNvSpPr txBox="1">
            <a:spLocks noGrp="1"/>
          </p:cNvSpPr>
          <p:nvPr>
            <p:ph type="body" idx="2"/>
          </p:nvPr>
        </p:nvSpPr>
        <p:spPr>
          <a:xfrm>
            <a:off x="6624228" y="3165816"/>
            <a:ext cx="2375297" cy="12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0" rIns="0" bIns="27000" anchor="b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 b="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 b="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18" name="Google Shape;218;p32"/>
          <p:cNvGrpSpPr/>
          <p:nvPr/>
        </p:nvGrpSpPr>
        <p:grpSpPr>
          <a:xfrm>
            <a:off x="-7241" y="1046779"/>
            <a:ext cx="9153857" cy="3588262"/>
            <a:chOff x="-9655" y="1395705"/>
            <a:chExt cx="12205142" cy="4784349"/>
          </a:xfrm>
        </p:grpSpPr>
        <p:sp>
          <p:nvSpPr>
            <p:cNvPr id="219" name="Google Shape;219;p32"/>
            <p:cNvSpPr/>
            <p:nvPr/>
          </p:nvSpPr>
          <p:spPr>
            <a:xfrm>
              <a:off x="-9655" y="1395705"/>
              <a:ext cx="9377121" cy="3961596"/>
            </a:xfrm>
            <a:custGeom>
              <a:avLst/>
              <a:gdLst/>
              <a:ahLst/>
              <a:cxnLst/>
              <a:rect l="l" t="t" r="r" b="b"/>
              <a:pathLst>
                <a:path w="9377121" h="3961596" extrusionOk="0">
                  <a:moveTo>
                    <a:pt x="0" y="0"/>
                  </a:moveTo>
                  <a:lnTo>
                    <a:pt x="0" y="3961597"/>
                  </a:lnTo>
                  <a:lnTo>
                    <a:pt x="7935270" y="3961597"/>
                  </a:lnTo>
                  <a:lnTo>
                    <a:pt x="93771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B9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32"/>
            <p:cNvSpPr/>
            <p:nvPr/>
          </p:nvSpPr>
          <p:spPr>
            <a:xfrm>
              <a:off x="7703907" y="4054016"/>
              <a:ext cx="4491580" cy="2126038"/>
            </a:xfrm>
            <a:custGeom>
              <a:avLst/>
              <a:gdLst/>
              <a:ahLst/>
              <a:cxnLst/>
              <a:rect l="l" t="t" r="r" b="b"/>
              <a:pathLst>
                <a:path w="4491580" h="2126038" extrusionOk="0">
                  <a:moveTo>
                    <a:pt x="4491581" y="0"/>
                  </a:moveTo>
                  <a:lnTo>
                    <a:pt x="773810" y="0"/>
                  </a:lnTo>
                  <a:lnTo>
                    <a:pt x="0" y="2126039"/>
                  </a:lnTo>
                  <a:lnTo>
                    <a:pt x="4490437" y="2126039"/>
                  </a:lnTo>
                  <a:lnTo>
                    <a:pt x="4491581" y="2123115"/>
                  </a:lnTo>
                  <a:lnTo>
                    <a:pt x="4491581" y="0"/>
                  </a:lnTo>
                  <a:close/>
                </a:path>
              </a:pathLst>
            </a:custGeom>
            <a:solidFill>
              <a:srgbClr val="A78EC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luss 1">
  <p:cSld name="Abschluss 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>
            <a:spLocks noGrp="1"/>
          </p:cNvSpPr>
          <p:nvPr>
            <p:ph type="title"/>
          </p:nvPr>
        </p:nvSpPr>
        <p:spPr>
          <a:xfrm>
            <a:off x="413538" y="465594"/>
            <a:ext cx="7074786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33"/>
          <p:cNvSpPr txBox="1">
            <a:spLocks noGrp="1"/>
          </p:cNvSpPr>
          <p:nvPr>
            <p:ph type="body" idx="1"/>
          </p:nvPr>
        </p:nvSpPr>
        <p:spPr>
          <a:xfrm>
            <a:off x="413538" y="1545636"/>
            <a:ext cx="5940660" cy="28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500" rIns="0" bIns="0" anchor="t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  <a:defRPr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SzPts val="1500"/>
              <a:buFont typeface="Calibri"/>
              <a:buNone/>
              <a:defRPr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None/>
              <a:defRPr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b="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b="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b="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4" name="Google Shape;224;p33"/>
          <p:cNvSpPr txBox="1">
            <a:spLocks noGrp="1"/>
          </p:cNvSpPr>
          <p:nvPr>
            <p:ph type="dt" idx="10"/>
          </p:nvPr>
        </p:nvSpPr>
        <p:spPr>
          <a:xfrm>
            <a:off x="7380312" y="48400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3"/>
          <p:cNvSpPr txBox="1">
            <a:spLocks noGrp="1"/>
          </p:cNvSpPr>
          <p:nvPr>
            <p:ph type="ftr" idx="11"/>
          </p:nvPr>
        </p:nvSpPr>
        <p:spPr>
          <a:xfrm>
            <a:off x="4031940" y="4840002"/>
            <a:ext cx="3240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33"/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227" name="Google Shape;227;p33"/>
          <p:cNvGrpSpPr/>
          <p:nvPr/>
        </p:nvGrpSpPr>
        <p:grpSpPr>
          <a:xfrm>
            <a:off x="-7241" y="970409"/>
            <a:ext cx="9153857" cy="3664632"/>
            <a:chOff x="-9655" y="1293878"/>
            <a:chExt cx="12205142" cy="4886176"/>
          </a:xfrm>
        </p:grpSpPr>
        <p:sp>
          <p:nvSpPr>
            <p:cNvPr id="228" name="Google Shape;228;p33"/>
            <p:cNvSpPr/>
            <p:nvPr/>
          </p:nvSpPr>
          <p:spPr>
            <a:xfrm>
              <a:off x="-9655" y="1801742"/>
              <a:ext cx="10164787" cy="4378312"/>
            </a:xfrm>
            <a:custGeom>
              <a:avLst/>
              <a:gdLst/>
              <a:ahLst/>
              <a:cxnLst/>
              <a:rect l="l" t="t" r="r" b="b"/>
              <a:pathLst>
                <a:path w="10164787" h="4378312" extrusionOk="0">
                  <a:moveTo>
                    <a:pt x="127" y="0"/>
                  </a:moveTo>
                  <a:lnTo>
                    <a:pt x="0" y="636"/>
                  </a:lnTo>
                  <a:lnTo>
                    <a:pt x="0" y="4378313"/>
                  </a:lnTo>
                  <a:lnTo>
                    <a:pt x="8571276" y="4378313"/>
                  </a:lnTo>
                  <a:lnTo>
                    <a:pt x="10164788" y="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5F5B9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33"/>
            <p:cNvSpPr/>
            <p:nvPr/>
          </p:nvSpPr>
          <p:spPr>
            <a:xfrm>
              <a:off x="8824260" y="1293878"/>
              <a:ext cx="3371227" cy="4377168"/>
            </a:xfrm>
            <a:custGeom>
              <a:avLst/>
              <a:gdLst/>
              <a:ahLst/>
              <a:cxnLst/>
              <a:rect l="l" t="t" r="r" b="b"/>
              <a:pathLst>
                <a:path w="3371227" h="4377168" extrusionOk="0">
                  <a:moveTo>
                    <a:pt x="3371228" y="0"/>
                  </a:moveTo>
                  <a:lnTo>
                    <a:pt x="1593131" y="0"/>
                  </a:lnTo>
                  <a:lnTo>
                    <a:pt x="0" y="4377168"/>
                  </a:lnTo>
                  <a:lnTo>
                    <a:pt x="3370338" y="4377168"/>
                  </a:lnTo>
                  <a:lnTo>
                    <a:pt x="3371228" y="4374753"/>
                  </a:lnTo>
                  <a:lnTo>
                    <a:pt x="3371228" y="0"/>
                  </a:lnTo>
                  <a:close/>
                </a:path>
              </a:pathLst>
            </a:custGeom>
            <a:solidFill>
              <a:srgbClr val="A78EC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bschluss 1">
  <p:cSld name="1_Abschluss 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title"/>
          </p:nvPr>
        </p:nvSpPr>
        <p:spPr>
          <a:xfrm>
            <a:off x="413538" y="465594"/>
            <a:ext cx="7074786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34"/>
          <p:cNvSpPr txBox="1">
            <a:spLocks noGrp="1"/>
          </p:cNvSpPr>
          <p:nvPr>
            <p:ph type="body" idx="1"/>
          </p:nvPr>
        </p:nvSpPr>
        <p:spPr>
          <a:xfrm>
            <a:off x="413538" y="2140014"/>
            <a:ext cx="2808312" cy="2267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  <a:defRPr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SzPts val="1500"/>
              <a:buFont typeface="Calibri"/>
              <a:buNone/>
              <a:defRPr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None/>
              <a:defRPr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b="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b="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b="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34"/>
          <p:cNvSpPr txBox="1">
            <a:spLocks noGrp="1"/>
          </p:cNvSpPr>
          <p:nvPr>
            <p:ph type="dt" idx="10"/>
          </p:nvPr>
        </p:nvSpPr>
        <p:spPr>
          <a:xfrm>
            <a:off x="7380312" y="48400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4"/>
          <p:cNvSpPr txBox="1">
            <a:spLocks noGrp="1"/>
          </p:cNvSpPr>
          <p:nvPr>
            <p:ph type="ftr" idx="11"/>
          </p:nvPr>
        </p:nvSpPr>
        <p:spPr>
          <a:xfrm>
            <a:off x="4031940" y="4840002"/>
            <a:ext cx="3240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4"/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6" name="Google Shape;236;p34"/>
          <p:cNvSpPr>
            <a:spLocks noGrp="1"/>
          </p:cNvSpPr>
          <p:nvPr>
            <p:ph type="pic" idx="2"/>
          </p:nvPr>
        </p:nvSpPr>
        <p:spPr>
          <a:xfrm>
            <a:off x="3437874" y="0"/>
            <a:ext cx="5706126" cy="4238866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34"/>
          <p:cNvSpPr/>
          <p:nvPr/>
        </p:nvSpPr>
        <p:spPr>
          <a:xfrm>
            <a:off x="857" y="1896713"/>
            <a:ext cx="4224147" cy="2733770"/>
          </a:xfrm>
          <a:custGeom>
            <a:avLst/>
            <a:gdLst/>
            <a:ahLst/>
            <a:cxnLst/>
            <a:rect l="l" t="t" r="r" b="b"/>
            <a:pathLst>
              <a:path w="5632196" h="3645027" extrusionOk="0">
                <a:moveTo>
                  <a:pt x="0" y="0"/>
                </a:moveTo>
                <a:lnTo>
                  <a:pt x="0" y="3645027"/>
                </a:lnTo>
                <a:lnTo>
                  <a:pt x="4305554" y="3645027"/>
                </a:lnTo>
                <a:lnTo>
                  <a:pt x="563219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>
            <a:spLocks noGrp="1"/>
          </p:cNvSpPr>
          <p:nvPr>
            <p:ph type="title"/>
          </p:nvPr>
        </p:nvSpPr>
        <p:spPr>
          <a:xfrm>
            <a:off x="413538" y="465594"/>
            <a:ext cx="8316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35"/>
          <p:cNvSpPr txBox="1">
            <a:spLocks noGrp="1"/>
          </p:cNvSpPr>
          <p:nvPr>
            <p:ph type="dt" idx="10"/>
          </p:nvPr>
        </p:nvSpPr>
        <p:spPr>
          <a:xfrm>
            <a:off x="7380312" y="48400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5"/>
          <p:cNvSpPr txBox="1">
            <a:spLocks noGrp="1"/>
          </p:cNvSpPr>
          <p:nvPr>
            <p:ph type="ftr" idx="11"/>
          </p:nvPr>
        </p:nvSpPr>
        <p:spPr>
          <a:xfrm>
            <a:off x="4031940" y="4840002"/>
            <a:ext cx="3240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5"/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3" name="Google Shape;243;p35"/>
          <p:cNvSpPr txBox="1">
            <a:spLocks noGrp="1"/>
          </p:cNvSpPr>
          <p:nvPr>
            <p:ph type="body" idx="1"/>
          </p:nvPr>
        </p:nvSpPr>
        <p:spPr>
          <a:xfrm>
            <a:off x="414462" y="195486"/>
            <a:ext cx="8316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" anchor="b" anchorCtr="0">
            <a:noAutofit/>
          </a:bodyPr>
          <a:lstStyle>
            <a:lvl1pPr marL="457200" lvl="0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 b="0" u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 type="blank">
  <p:cSld name="BLANK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>
            <a:spLocks noGrp="1"/>
          </p:cNvSpPr>
          <p:nvPr>
            <p:ph type="dt" idx="10"/>
          </p:nvPr>
        </p:nvSpPr>
        <p:spPr>
          <a:xfrm>
            <a:off x="7380312" y="48400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6"/>
          <p:cNvSpPr txBox="1">
            <a:spLocks noGrp="1"/>
          </p:cNvSpPr>
          <p:nvPr>
            <p:ph type="ftr" idx="11"/>
          </p:nvPr>
        </p:nvSpPr>
        <p:spPr>
          <a:xfrm>
            <a:off x="4031940" y="4840002"/>
            <a:ext cx="3240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36"/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3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39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3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3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40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267" name="Google Shape;267;p4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4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4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41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3" name="Google Shape;273;p4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4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4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42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279" name="Google Shape;279;p42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280" name="Google Shape;280;p4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4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4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43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286" name="Google Shape;286;p43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287" name="Google Shape;287;p43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288" name="Google Shape;288;p43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289" name="Google Shape;289;p4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4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4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4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4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4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45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300" name="Google Shape;300;p45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301" name="Google Shape;301;p4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4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4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6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46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46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308" name="Google Shape;308;p4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4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4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47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314" name="Google Shape;314;p4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4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4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8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48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4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4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4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13538" y="465594"/>
            <a:ext cx="8316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13538" y="1275972"/>
            <a:ext cx="8316000" cy="3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00" rIns="0" bIns="0" anchor="t" anchorCtr="0">
            <a:no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17000"/>
              </a:lnSpc>
              <a:spcBef>
                <a:spcPts val="11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Calibri"/>
              <a:buAutoNum type="arabicPeriod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Calibri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048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7380312" y="48400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600" b="0" i="0" u="none" strike="noStrike" cap="none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4031940" y="4840002"/>
            <a:ext cx="3240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600" b="0" i="0" u="none" strike="noStrike" cap="none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356726" y="4707784"/>
            <a:ext cx="287555" cy="2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62582" y="4700588"/>
            <a:ext cx="128588" cy="303610"/>
          </a:xfrm>
          <a:prstGeom prst="parallelogram">
            <a:avLst>
              <a:gd name="adj" fmla="val 86333"/>
            </a:avLst>
          </a:prstGeom>
          <a:solidFill>
            <a:schemeClr val="accent1">
              <a:alpha val="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810000" y="4708800"/>
            <a:ext cx="303297" cy="29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39900" y="4708800"/>
            <a:ext cx="168964" cy="297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250" name="Google Shape;250;p37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1" name="Google Shape;251;p3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2" name="Google Shape;252;p3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3" name="Google Shape;253;p3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article/pii/S1574119223000779" TargetMode="External"/><Relationship Id="rId3" Type="http://schemas.openxmlformats.org/officeDocument/2006/relationships/image" Target="../media/image7.png"/><Relationship Id="rId7" Type="http://schemas.openxmlformats.org/officeDocument/2006/relationships/hyperlink" Target="https://arxiv.org/abs/2410.11612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zenodo.org/records/15240508" TargetMode="External"/><Relationship Id="rId5" Type="http://schemas.openxmlformats.org/officeDocument/2006/relationships/hyperlink" Target="https://dl.acm.org/doi/10.1016/j.inffus.2023.102189" TargetMode="External"/><Relationship Id="rId10" Type="http://schemas.openxmlformats.org/officeDocument/2006/relationships/hyperlink" Target="https://pmc.ncbi.nlm.nih.gov/articles/PMC9227753/" TargetMode="External"/><Relationship Id="rId4" Type="http://schemas.openxmlformats.org/officeDocument/2006/relationships/hyperlink" Target="https://www.sciencedirect.com/science/article/pii/S2405959525000839" TargetMode="External"/><Relationship Id="rId9" Type="http://schemas.openxmlformats.org/officeDocument/2006/relationships/hyperlink" Target="https://pmc.ncbi.nlm.nih.gov/articles/PMC1211589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9"/>
          <p:cNvSpPr txBox="1">
            <a:spLocks noGrp="1"/>
          </p:cNvSpPr>
          <p:nvPr>
            <p:ph type="subTitle" idx="1"/>
          </p:nvPr>
        </p:nvSpPr>
        <p:spPr>
          <a:xfrm>
            <a:off x="197525" y="2728474"/>
            <a:ext cx="47043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00" rIns="0" bIns="0" anchor="t" anchorCtr="0">
            <a:noAutofit/>
          </a:bodyPr>
          <a:lstStyle/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-GB" sz="2100" dirty="0"/>
              <a:t>Presented by:</a:t>
            </a:r>
            <a:endParaRPr dirty="0"/>
          </a:p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GB" sz="1600" dirty="0"/>
              <a:t>Pratik Khadka</a:t>
            </a:r>
          </a:p>
          <a:p>
            <a:pPr marL="0" indent="0"/>
            <a:endParaRPr lang="en-GB" sz="1600" dirty="0"/>
          </a:p>
          <a:p>
            <a:pPr marL="0" indent="0"/>
            <a:r>
              <a:rPr lang="en-GB" sz="1600" dirty="0"/>
              <a:t>Supervisor:</a:t>
            </a:r>
          </a:p>
          <a:p>
            <a:pPr marL="0" indent="0"/>
            <a:r>
              <a:rPr lang="en-GB" sz="1600" dirty="0"/>
              <a:t>First Supervisor: Kristof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GB" sz="1600" dirty="0"/>
              <a:t>Second Supervisor: Nahshon M. Obiri</a:t>
            </a:r>
            <a:endParaRPr sz="1600" dirty="0"/>
          </a:p>
        </p:txBody>
      </p:sp>
      <p:sp>
        <p:nvSpPr>
          <p:cNvPr id="328" name="Google Shape;328;p49"/>
          <p:cNvSpPr txBox="1">
            <a:spLocks noGrp="1"/>
          </p:cNvSpPr>
          <p:nvPr>
            <p:ph type="dt" idx="10"/>
          </p:nvPr>
        </p:nvSpPr>
        <p:spPr>
          <a:xfrm>
            <a:off x="3761910" y="4948014"/>
            <a:ext cx="1458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9" name="Google Shape;329;p49"/>
          <p:cNvSpPr txBox="1">
            <a:spLocks noGrp="1"/>
          </p:cNvSpPr>
          <p:nvPr>
            <p:ph type="ctrTitle"/>
          </p:nvPr>
        </p:nvSpPr>
        <p:spPr>
          <a:xfrm>
            <a:off x="58848" y="1458926"/>
            <a:ext cx="7746054" cy="9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lvl="0">
              <a:buSzPct val="100000"/>
            </a:pPr>
            <a:r>
              <a:rPr lang="en-US" sz="1800" b="0" i="1" dirty="0"/>
              <a:t>Decentralized Edge Intelligence for LoRaWAN:</a:t>
            </a:r>
            <a:br>
              <a:rPr lang="en-US" sz="1800" b="0" i="1" dirty="0"/>
            </a:br>
            <a:r>
              <a:rPr lang="en-US" sz="1800" b="0" i="1" dirty="0"/>
              <a:t> Federated Learning for Environment-Driven Path Loss and Link Quality Modeling</a:t>
            </a:r>
            <a:endParaRPr sz="1100" dirty="0"/>
          </a:p>
        </p:txBody>
      </p:sp>
      <p:pic>
        <p:nvPicPr>
          <p:cNvPr id="330" name="Google Shape;330;p4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3988" y="411510"/>
            <a:ext cx="1458162" cy="555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2646" y="4454007"/>
            <a:ext cx="1179008" cy="555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37" name="Google Shape;337;p50"/>
          <p:cNvSpPr/>
          <p:nvPr/>
        </p:nvSpPr>
        <p:spPr>
          <a:xfrm>
            <a:off x="54427" y="391140"/>
            <a:ext cx="4837175" cy="71081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0" b="0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3628" y="4724177"/>
            <a:ext cx="874088" cy="34584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/>
          <p:cNvSpPr txBox="1"/>
          <p:nvPr/>
        </p:nvSpPr>
        <p:spPr>
          <a:xfrm>
            <a:off x="54427" y="138593"/>
            <a:ext cx="4312804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Old project: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0"/>
          <p:cNvSpPr txBox="1"/>
          <p:nvPr/>
        </p:nvSpPr>
        <p:spPr>
          <a:xfrm>
            <a:off x="2335838" y="4840002"/>
            <a:ext cx="7406206" cy="25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/>
          <a:p>
            <a:pPr lvl="0"/>
            <a:r>
              <a:rPr lang="en-US" sz="800" i="1" dirty="0"/>
              <a:t>Decentralized Edge Intelligence for LoRaWAN: Federated Learning for Environment-Driven Path Loss and Link Quality Modeling</a:t>
            </a:r>
            <a:endParaRPr sz="600" dirty="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50"/>
          <p:cNvSpPr txBox="1"/>
          <p:nvPr/>
        </p:nvSpPr>
        <p:spPr>
          <a:xfrm>
            <a:off x="7494612" y="49543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0"/>
          <p:cNvSpPr txBox="1"/>
          <p:nvPr/>
        </p:nvSpPr>
        <p:spPr>
          <a:xfrm>
            <a:off x="54427" y="3922791"/>
            <a:ext cx="9144000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So: old project = “centralized train‑once model + visualization”, not a continuously adapting   network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GB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dirty="0"/>
          </a:p>
        </p:txBody>
      </p:sp>
      <p:sp>
        <p:nvSpPr>
          <p:cNvPr id="350" name="Google Shape;350;p50"/>
          <p:cNvSpPr txBox="1"/>
          <p:nvPr/>
        </p:nvSpPr>
        <p:spPr>
          <a:xfrm>
            <a:off x="97763" y="1552138"/>
            <a:ext cx="8808900" cy="2177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lvl="0" indent="-215900"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-US" dirty="0">
                <a:solidFill>
                  <a:schemeClr val="tx1"/>
                </a:solidFill>
              </a:rPr>
              <a:t>6 × Arduino </a:t>
            </a:r>
            <a:r>
              <a:rPr lang="en-US" b="1" dirty="0">
                <a:solidFill>
                  <a:schemeClr val="tx1"/>
                </a:solidFill>
              </a:rPr>
              <a:t>MKR WAN 1310</a:t>
            </a:r>
            <a:r>
              <a:rPr lang="en-US" dirty="0">
                <a:solidFill>
                  <a:schemeClr val="tx1"/>
                </a:solidFill>
              </a:rPr>
              <a:t> nodes in an indoor office, with </a:t>
            </a:r>
            <a:r>
              <a:rPr lang="en-US" b="1" dirty="0">
                <a:solidFill>
                  <a:schemeClr val="tx1"/>
                </a:solidFill>
              </a:rPr>
              <a:t>SCD41, BME280, SPS30</a:t>
            </a:r>
            <a:r>
              <a:rPr lang="en-US" dirty="0">
                <a:solidFill>
                  <a:schemeClr val="tx1"/>
                </a:solidFill>
              </a:rPr>
              <a:t> sensors.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Collected 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≈1,328,334 rows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of data over ~4 months: temperature, humidity, CO₂, pressure, PM2.5, plus RSSI, SNR, SF.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 centralized models (MLR, RF,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to predict 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 loss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Best: </a:t>
            </a:r>
            <a:r>
              <a:rPr lang="en-US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R² ≈ 0.93, RMSE ≈ 5.14 </a:t>
            </a:r>
            <a:r>
              <a:rPr lang="en-US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Distilled a 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lightweight neural network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using pseudo‑labels from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converted it to 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 Lite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for edge deployment (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TinyML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).​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a 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Flutter dashboard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with MQTT + PostgreSQL for real‑time visualization (but the main intelligence still lived in the server training).​</a:t>
            </a:r>
          </a:p>
          <a:p>
            <a:pPr lvl="0">
              <a:buClr>
                <a:schemeClr val="dk1"/>
              </a:buClr>
              <a:buSzPts val="1400"/>
            </a:pPr>
            <a:endParaRPr lang="en-US" dirty="0"/>
          </a:p>
          <a:p>
            <a:pPr lvl="0">
              <a:buClr>
                <a:schemeClr val="dk1"/>
              </a:buClr>
              <a:buSzPts val="1400"/>
            </a:pPr>
            <a:endParaRPr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C15D0-9916-37B1-298B-29608F4F8AEA}"/>
              </a:ext>
            </a:extLst>
          </p:cNvPr>
          <p:cNvSpPr txBox="1"/>
          <p:nvPr/>
        </p:nvSpPr>
        <p:spPr>
          <a:xfrm>
            <a:off x="54427" y="714768"/>
            <a:ext cx="9028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i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LoRaWAN in Indoor Office Environments: Environmental Effects on Path Loss and Signal Reliability</a:t>
            </a:r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>
          <a:extLst>
            <a:ext uri="{FF2B5EF4-FFF2-40B4-BE49-F238E27FC236}">
              <a16:creationId xmlns:a16="http://schemas.microsoft.com/office/drawing/2014/main" id="{9B1F25D2-49A4-F007-DA6A-D13B6C308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>
            <a:extLst>
              <a:ext uri="{FF2B5EF4-FFF2-40B4-BE49-F238E27FC236}">
                <a16:creationId xmlns:a16="http://schemas.microsoft.com/office/drawing/2014/main" id="{083EDE4E-2807-7C4C-F159-2A390620D8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337" name="Google Shape;337;p50">
            <a:extLst>
              <a:ext uri="{FF2B5EF4-FFF2-40B4-BE49-F238E27FC236}">
                <a16:creationId xmlns:a16="http://schemas.microsoft.com/office/drawing/2014/main" id="{037BA377-32B1-DE0F-DB57-04241C4B91F3}"/>
              </a:ext>
            </a:extLst>
          </p:cNvPr>
          <p:cNvSpPr/>
          <p:nvPr/>
        </p:nvSpPr>
        <p:spPr>
          <a:xfrm>
            <a:off x="54427" y="391140"/>
            <a:ext cx="4837175" cy="71081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0" b="0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50">
            <a:extLst>
              <a:ext uri="{FF2B5EF4-FFF2-40B4-BE49-F238E27FC236}">
                <a16:creationId xmlns:a16="http://schemas.microsoft.com/office/drawing/2014/main" id="{09B4F21D-5B8B-3023-CBEE-E06D327C51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3628" y="4724177"/>
            <a:ext cx="874088" cy="34584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>
            <a:extLst>
              <a:ext uri="{FF2B5EF4-FFF2-40B4-BE49-F238E27FC236}">
                <a16:creationId xmlns:a16="http://schemas.microsoft.com/office/drawing/2014/main" id="{956B0736-FB88-EC4D-3499-7220BB6889F6}"/>
              </a:ext>
            </a:extLst>
          </p:cNvPr>
          <p:cNvSpPr txBox="1"/>
          <p:nvPr/>
        </p:nvSpPr>
        <p:spPr>
          <a:xfrm>
            <a:off x="0" y="118079"/>
            <a:ext cx="7072516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New thesis: core concept of the upgrade</a:t>
            </a:r>
          </a:p>
        </p:txBody>
      </p:sp>
      <p:sp>
        <p:nvSpPr>
          <p:cNvPr id="340" name="Google Shape;340;p50">
            <a:extLst>
              <a:ext uri="{FF2B5EF4-FFF2-40B4-BE49-F238E27FC236}">
                <a16:creationId xmlns:a16="http://schemas.microsoft.com/office/drawing/2014/main" id="{3FAAC341-C6D0-975B-BE74-D43CFFD441B6}"/>
              </a:ext>
            </a:extLst>
          </p:cNvPr>
          <p:cNvSpPr txBox="1"/>
          <p:nvPr/>
        </p:nvSpPr>
        <p:spPr>
          <a:xfrm>
            <a:off x="2335838" y="4840002"/>
            <a:ext cx="7406206" cy="25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/>
          <a:p>
            <a:pPr lvl="0"/>
            <a:r>
              <a:rPr lang="en-US" sz="800" i="1" dirty="0"/>
              <a:t>Decentralized Edge Intelligence for LoRaWAN: Federated Learning for Environment-Driven Path Loss and Link Quality Modeling</a:t>
            </a:r>
            <a:endParaRPr sz="600" dirty="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50">
            <a:extLst>
              <a:ext uri="{FF2B5EF4-FFF2-40B4-BE49-F238E27FC236}">
                <a16:creationId xmlns:a16="http://schemas.microsoft.com/office/drawing/2014/main" id="{9ECA5702-9BA5-2616-5959-5AFBAA76DD3D}"/>
              </a:ext>
            </a:extLst>
          </p:cNvPr>
          <p:cNvSpPr txBox="1"/>
          <p:nvPr/>
        </p:nvSpPr>
        <p:spPr>
          <a:xfrm>
            <a:off x="7494612" y="49543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50">
            <a:extLst>
              <a:ext uri="{FF2B5EF4-FFF2-40B4-BE49-F238E27FC236}">
                <a16:creationId xmlns:a16="http://schemas.microsoft.com/office/drawing/2014/main" id="{F49D70DE-01AC-E269-4C4E-E031E5769716}"/>
              </a:ext>
            </a:extLst>
          </p:cNvPr>
          <p:cNvSpPr txBox="1"/>
          <p:nvPr/>
        </p:nvSpPr>
        <p:spPr>
          <a:xfrm>
            <a:off x="167550" y="1566202"/>
            <a:ext cx="8808900" cy="322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tx1"/>
                </a:solidFill>
              </a:rPr>
              <a:t>Main change: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tx1"/>
                </a:solidFill>
              </a:rPr>
              <a:t>From</a:t>
            </a:r>
            <a:r>
              <a:rPr lang="en-US" sz="1600" dirty="0">
                <a:solidFill>
                  <a:schemeClr val="tx1"/>
                </a:solidFill>
              </a:rPr>
              <a:t> &gt;</a:t>
            </a:r>
            <a:r>
              <a:rPr lang="en-US" b="1" dirty="0">
                <a:solidFill>
                  <a:schemeClr val="tx1"/>
                </a:solidFill>
              </a:rPr>
              <a:t>centralized data → single model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tx1"/>
                </a:solidFill>
              </a:rPr>
              <a:t>To</a:t>
            </a:r>
            <a:r>
              <a:rPr lang="en-US" dirty="0">
                <a:solidFill>
                  <a:schemeClr val="tx1"/>
                </a:solidFill>
              </a:rPr>
              <a:t>   &gt;</a:t>
            </a:r>
            <a:r>
              <a:rPr lang="en-US" b="1" dirty="0">
                <a:solidFill>
                  <a:schemeClr val="tx1"/>
                </a:solidFill>
              </a:rPr>
              <a:t>distributed on‑device learning → federated aggregation</a:t>
            </a:r>
            <a:r>
              <a:rPr lang="en-US" dirty="0">
                <a:solidFill>
                  <a:schemeClr val="tx1"/>
                </a:solidFill>
              </a:rPr>
              <a:t> (</a:t>
            </a:r>
            <a:r>
              <a:rPr lang="en-US" dirty="0" err="1">
                <a:solidFill>
                  <a:schemeClr val="tx1"/>
                </a:solidFill>
              </a:rPr>
              <a:t>TinyML</a:t>
            </a:r>
            <a:r>
              <a:rPr lang="en-US" dirty="0">
                <a:solidFill>
                  <a:schemeClr val="tx1"/>
                </a:solidFill>
              </a:rPr>
              <a:t> on each node + FL rounds on the backend).​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tx1"/>
                </a:solidFill>
              </a:rPr>
              <a:t>Key Analogy: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Each node is a </a:t>
            </a:r>
            <a:r>
              <a:rPr lang="en-US" b="1" dirty="0">
                <a:solidFill>
                  <a:schemeClr val="tx1"/>
                </a:solidFill>
              </a:rPr>
              <a:t>student</a:t>
            </a:r>
            <a:r>
              <a:rPr lang="en-US" dirty="0">
                <a:solidFill>
                  <a:schemeClr val="tx1"/>
                </a:solidFill>
              </a:rPr>
              <a:t> with its own notes (local data).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They send the teacher </a:t>
            </a:r>
            <a:r>
              <a:rPr lang="en-US" b="1" dirty="0">
                <a:solidFill>
                  <a:schemeClr val="tx1"/>
                </a:solidFill>
              </a:rPr>
              <a:t>what they learned</a:t>
            </a:r>
            <a:r>
              <a:rPr lang="en-US" dirty="0">
                <a:solidFill>
                  <a:schemeClr val="tx1"/>
                </a:solidFill>
              </a:rPr>
              <a:t> (model updates, not raw data).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The teacher combines updates into a better shared guide (global model) and occasionally sends it back.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</a:endParaRPr>
          </a:p>
          <a:p>
            <a:br>
              <a:rPr lang="en-US" dirty="0"/>
            </a:br>
            <a:endParaRPr lang="en-US" dirty="0"/>
          </a:p>
          <a:p>
            <a:pPr lvl="0">
              <a:buClr>
                <a:schemeClr val="dk1"/>
              </a:buClr>
              <a:buSzPts val="1400"/>
            </a:pPr>
            <a:endParaRPr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701FE1-60B2-CC42-13CF-B197E8577B0A}"/>
              </a:ext>
            </a:extLst>
          </p:cNvPr>
          <p:cNvSpPr txBox="1"/>
          <p:nvPr/>
        </p:nvSpPr>
        <p:spPr>
          <a:xfrm>
            <a:off x="0" y="627202"/>
            <a:ext cx="922825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 direction:</a:t>
            </a:r>
            <a:b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“Decentralized Edge Intelligence for LoRaWAN: Federated Learning for Environment‑Driven Path Loss and Link Quality Modeling.”</a:t>
            </a:r>
            <a:br>
              <a:rPr lang="en-US" sz="1600" dirty="0"/>
            </a:br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082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>
          <a:extLst>
            <a:ext uri="{FF2B5EF4-FFF2-40B4-BE49-F238E27FC236}">
              <a16:creationId xmlns:a16="http://schemas.microsoft.com/office/drawing/2014/main" id="{D93B459B-3F54-CBAC-6A5D-AE66FF8B4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>
            <a:extLst>
              <a:ext uri="{FF2B5EF4-FFF2-40B4-BE49-F238E27FC236}">
                <a16:creationId xmlns:a16="http://schemas.microsoft.com/office/drawing/2014/main" id="{0B468F59-7D45-E221-2776-D073CDAE6D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337" name="Google Shape;337;p50">
            <a:extLst>
              <a:ext uri="{FF2B5EF4-FFF2-40B4-BE49-F238E27FC236}">
                <a16:creationId xmlns:a16="http://schemas.microsoft.com/office/drawing/2014/main" id="{281FAE68-EC25-DEFB-E9EE-451836A95434}"/>
              </a:ext>
            </a:extLst>
          </p:cNvPr>
          <p:cNvSpPr/>
          <p:nvPr/>
        </p:nvSpPr>
        <p:spPr>
          <a:xfrm>
            <a:off x="54427" y="391140"/>
            <a:ext cx="4837175" cy="71081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0" b="0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50">
            <a:extLst>
              <a:ext uri="{FF2B5EF4-FFF2-40B4-BE49-F238E27FC236}">
                <a16:creationId xmlns:a16="http://schemas.microsoft.com/office/drawing/2014/main" id="{49F125E4-A430-CACC-E816-AC6641EED2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3628" y="4724177"/>
            <a:ext cx="874088" cy="34584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>
            <a:extLst>
              <a:ext uri="{FF2B5EF4-FFF2-40B4-BE49-F238E27FC236}">
                <a16:creationId xmlns:a16="http://schemas.microsoft.com/office/drawing/2014/main" id="{AECAADEE-8FC1-671B-2DCC-26E2FBF51559}"/>
              </a:ext>
            </a:extLst>
          </p:cNvPr>
          <p:cNvSpPr txBox="1"/>
          <p:nvPr/>
        </p:nvSpPr>
        <p:spPr>
          <a:xfrm>
            <a:off x="27880" y="125698"/>
            <a:ext cx="4890267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</a:rPr>
              <a:t>Feature options for the </a:t>
            </a:r>
            <a:r>
              <a:rPr lang="en-US" sz="1600" b="1" dirty="0" err="1">
                <a:solidFill>
                  <a:schemeClr val="tx1"/>
                </a:solidFill>
                <a:latin typeface="+mj-lt"/>
              </a:rPr>
              <a:t>TinyML</a:t>
            </a:r>
            <a:r>
              <a:rPr lang="en-US" sz="1600" b="1" dirty="0">
                <a:solidFill>
                  <a:schemeClr val="tx1"/>
                </a:solidFill>
                <a:latin typeface="+mj-lt"/>
              </a:rPr>
              <a:t> model: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0">
            <a:extLst>
              <a:ext uri="{FF2B5EF4-FFF2-40B4-BE49-F238E27FC236}">
                <a16:creationId xmlns:a16="http://schemas.microsoft.com/office/drawing/2014/main" id="{E75F6483-C689-B3A6-3A9A-69FB1DC3874E}"/>
              </a:ext>
            </a:extLst>
          </p:cNvPr>
          <p:cNvSpPr txBox="1"/>
          <p:nvPr/>
        </p:nvSpPr>
        <p:spPr>
          <a:xfrm>
            <a:off x="2335838" y="4840002"/>
            <a:ext cx="7406206" cy="25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/>
          <a:p>
            <a:pPr lvl="0"/>
            <a:r>
              <a:rPr lang="en-US" sz="800" i="1" dirty="0"/>
              <a:t>Decentralized Edge Intelligence for LoRaWAN: Federated Learning for Environment-Driven Path Loss and Link Quality Modeling</a:t>
            </a:r>
            <a:endParaRPr sz="600" dirty="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50">
            <a:extLst>
              <a:ext uri="{FF2B5EF4-FFF2-40B4-BE49-F238E27FC236}">
                <a16:creationId xmlns:a16="http://schemas.microsoft.com/office/drawing/2014/main" id="{CBAA53FB-1FAE-CC57-FE75-1895B6C35DC9}"/>
              </a:ext>
            </a:extLst>
          </p:cNvPr>
          <p:cNvSpPr txBox="1"/>
          <p:nvPr/>
        </p:nvSpPr>
        <p:spPr>
          <a:xfrm>
            <a:off x="7494612" y="49543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0">
            <a:extLst>
              <a:ext uri="{FF2B5EF4-FFF2-40B4-BE49-F238E27FC236}">
                <a16:creationId xmlns:a16="http://schemas.microsoft.com/office/drawing/2014/main" id="{F5D59576-8109-4300-DF79-EFE54A40458A}"/>
              </a:ext>
            </a:extLst>
          </p:cNvPr>
          <p:cNvSpPr txBox="1"/>
          <p:nvPr/>
        </p:nvSpPr>
        <p:spPr>
          <a:xfrm>
            <a:off x="216684" y="857192"/>
            <a:ext cx="9144000" cy="3362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</a:rPr>
              <a:t>We designed </a:t>
            </a:r>
            <a:r>
              <a:rPr lang="en-US" sz="1600" b="1" dirty="0">
                <a:solidFill>
                  <a:schemeClr val="tx1"/>
                </a:solidFill>
              </a:rPr>
              <a:t>two feature‑set variants </a:t>
            </a:r>
            <a:r>
              <a:rPr lang="en-US" sz="1600" dirty="0">
                <a:solidFill>
                  <a:schemeClr val="tx1"/>
                </a:solidFill>
              </a:rPr>
              <a:t>for the node’s model: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1. Pure local features (no gateway </a:t>
            </a:r>
            <a:r>
              <a:rPr lang="en-US" sz="1600" b="1" dirty="0" err="1">
                <a:solidFill>
                  <a:schemeClr val="tx1"/>
                </a:solidFill>
              </a:rPr>
              <a:t>feedback~downlink</a:t>
            </a:r>
            <a:r>
              <a:rPr lang="en-US" sz="1600" b="1" dirty="0">
                <a:solidFill>
                  <a:schemeClr val="tx1"/>
                </a:solidFill>
              </a:rPr>
              <a:t>)</a:t>
            </a:r>
          </a:p>
          <a:p>
            <a:r>
              <a:rPr lang="en-US" sz="1600" dirty="0">
                <a:solidFill>
                  <a:schemeClr val="tx1"/>
                </a:solidFill>
              </a:rPr>
              <a:t>Only what the node truly knows, free to sample at high rate: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Environmental: </a:t>
            </a:r>
            <a:r>
              <a:rPr lang="en-US" sz="1600" dirty="0">
                <a:solidFill>
                  <a:schemeClr val="tx1"/>
                </a:solidFill>
              </a:rPr>
              <a:t>temp, humidity, CO₂, pressure, PM2.5.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Radio config: </a:t>
            </a:r>
            <a:r>
              <a:rPr lang="en-US" sz="1600" dirty="0">
                <a:solidFill>
                  <a:schemeClr val="tx1"/>
                </a:solidFill>
              </a:rPr>
              <a:t>SF, TX power, uplink interval / mode.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Local history:</a:t>
            </a:r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</a:rPr>
              <a:t>      Moving average of recent predictions.</a:t>
            </a:r>
          </a:p>
          <a:p>
            <a:pPr marL="285750" lvl="5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</a:rPr>
              <a:t>      Time since last downlink.</a:t>
            </a:r>
          </a:p>
          <a:p>
            <a:pPr marL="285750" lvl="5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</a:rPr>
              <a:t>      Count of missed expected downlinks (if you use confirmed uplinks).</a:t>
            </a:r>
          </a:p>
          <a:p>
            <a:pPr lvl="5"/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This variant works even if you never use downlinks for link metrics.</a:t>
            </a:r>
          </a:p>
          <a:p>
            <a:br>
              <a:rPr lang="en-US" sz="1100" dirty="0"/>
            </a:b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138923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>
          <a:extLst>
            <a:ext uri="{FF2B5EF4-FFF2-40B4-BE49-F238E27FC236}">
              <a16:creationId xmlns:a16="http://schemas.microsoft.com/office/drawing/2014/main" id="{5BC1E47F-9B80-8067-0489-D9EFC0F7D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>
            <a:extLst>
              <a:ext uri="{FF2B5EF4-FFF2-40B4-BE49-F238E27FC236}">
                <a16:creationId xmlns:a16="http://schemas.microsoft.com/office/drawing/2014/main" id="{FFDAC016-25CB-E7DB-7012-ACBC2C6815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sp>
        <p:nvSpPr>
          <p:cNvPr id="337" name="Google Shape;337;p50">
            <a:extLst>
              <a:ext uri="{FF2B5EF4-FFF2-40B4-BE49-F238E27FC236}">
                <a16:creationId xmlns:a16="http://schemas.microsoft.com/office/drawing/2014/main" id="{29931ADB-AB2E-A5C6-6C07-E38189FFBBCD}"/>
              </a:ext>
            </a:extLst>
          </p:cNvPr>
          <p:cNvSpPr/>
          <p:nvPr/>
        </p:nvSpPr>
        <p:spPr>
          <a:xfrm>
            <a:off x="54427" y="391140"/>
            <a:ext cx="4837175" cy="71081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0" b="0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50">
            <a:extLst>
              <a:ext uri="{FF2B5EF4-FFF2-40B4-BE49-F238E27FC236}">
                <a16:creationId xmlns:a16="http://schemas.microsoft.com/office/drawing/2014/main" id="{910FE9C9-C549-2358-AA5B-944E33ECD6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3628" y="4724177"/>
            <a:ext cx="874088" cy="34584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>
            <a:extLst>
              <a:ext uri="{FF2B5EF4-FFF2-40B4-BE49-F238E27FC236}">
                <a16:creationId xmlns:a16="http://schemas.microsoft.com/office/drawing/2014/main" id="{0033F32C-5536-66DF-5F00-04972B261610}"/>
              </a:ext>
            </a:extLst>
          </p:cNvPr>
          <p:cNvSpPr txBox="1"/>
          <p:nvPr/>
        </p:nvSpPr>
        <p:spPr>
          <a:xfrm>
            <a:off x="27880" y="125698"/>
            <a:ext cx="4890267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</a:rPr>
              <a:t>Feature options for the </a:t>
            </a:r>
            <a:r>
              <a:rPr lang="en-US" sz="1600" b="1" dirty="0" err="1">
                <a:solidFill>
                  <a:schemeClr val="tx1"/>
                </a:solidFill>
                <a:latin typeface="+mj-lt"/>
              </a:rPr>
              <a:t>TinyML</a:t>
            </a:r>
            <a:r>
              <a:rPr lang="en-US" sz="1600" b="1" dirty="0">
                <a:solidFill>
                  <a:schemeClr val="tx1"/>
                </a:solidFill>
                <a:latin typeface="+mj-lt"/>
              </a:rPr>
              <a:t> model: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0">
            <a:extLst>
              <a:ext uri="{FF2B5EF4-FFF2-40B4-BE49-F238E27FC236}">
                <a16:creationId xmlns:a16="http://schemas.microsoft.com/office/drawing/2014/main" id="{84B29661-5D0B-0670-5753-9604200CE100}"/>
              </a:ext>
            </a:extLst>
          </p:cNvPr>
          <p:cNvSpPr txBox="1"/>
          <p:nvPr/>
        </p:nvSpPr>
        <p:spPr>
          <a:xfrm>
            <a:off x="2335838" y="4840002"/>
            <a:ext cx="7406206" cy="25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/>
          <a:p>
            <a:pPr lvl="0"/>
            <a:r>
              <a:rPr lang="en-US" sz="800" i="1" dirty="0"/>
              <a:t>Decentralized Edge Intelligence for LoRaWAN: Federated Learning for Environment-Driven Path Loss and Link Quality Modeling</a:t>
            </a:r>
            <a:endParaRPr sz="600" dirty="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50">
            <a:extLst>
              <a:ext uri="{FF2B5EF4-FFF2-40B4-BE49-F238E27FC236}">
                <a16:creationId xmlns:a16="http://schemas.microsoft.com/office/drawing/2014/main" id="{155667CC-3387-4EE7-CDB4-AD177B5B83E8}"/>
              </a:ext>
            </a:extLst>
          </p:cNvPr>
          <p:cNvSpPr txBox="1"/>
          <p:nvPr/>
        </p:nvSpPr>
        <p:spPr>
          <a:xfrm>
            <a:off x="7494612" y="49543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0">
            <a:extLst>
              <a:ext uri="{FF2B5EF4-FFF2-40B4-BE49-F238E27FC236}">
                <a16:creationId xmlns:a16="http://schemas.microsoft.com/office/drawing/2014/main" id="{FAD79373-54B4-AF55-2EEC-B52F2F40BF94}"/>
              </a:ext>
            </a:extLst>
          </p:cNvPr>
          <p:cNvSpPr txBox="1"/>
          <p:nvPr/>
        </p:nvSpPr>
        <p:spPr>
          <a:xfrm>
            <a:off x="173348" y="656582"/>
            <a:ext cx="9144000" cy="434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2.  With occasional feedback (coarse network view)</a:t>
            </a:r>
          </a:p>
          <a:p>
            <a:r>
              <a:rPr lang="en-US" sz="1600" dirty="0">
                <a:solidFill>
                  <a:schemeClr val="tx1"/>
                </a:solidFill>
              </a:rPr>
              <a:t>Because TTN allows </a:t>
            </a:r>
            <a:r>
              <a:rPr lang="en-US" sz="1600" b="1" dirty="0">
                <a:solidFill>
                  <a:schemeClr val="tx1"/>
                </a:solidFill>
              </a:rPr>
              <a:t>~10 downlinks/day/device</a:t>
            </a:r>
            <a:r>
              <a:rPr lang="en-US" sz="1600" dirty="0">
                <a:solidFill>
                  <a:schemeClr val="tx1"/>
                </a:solidFill>
              </a:rPr>
              <a:t>, we treat gateway feedback as </a:t>
            </a:r>
            <a:r>
              <a:rPr lang="en-US" sz="1600" b="1" dirty="0">
                <a:solidFill>
                  <a:schemeClr val="tx1"/>
                </a:solidFill>
              </a:rPr>
              <a:t>coarse, slow feedback</a:t>
            </a:r>
            <a:r>
              <a:rPr lang="en-US" sz="1600" dirty="0">
                <a:solidFill>
                  <a:schemeClr val="tx1"/>
                </a:solidFill>
              </a:rPr>
              <a:t>:​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Aggregated uplink RSSI (e.g., average over last N packets).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Aggregated uplink SNR.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Packet delivery ratio (PDR) summary.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Optional network “link state” flags or ADR‑like SF recommendations.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These arrive rarely, so they </a:t>
            </a:r>
            <a:r>
              <a:rPr lang="en-US" sz="1600" b="1" dirty="0">
                <a:solidFill>
                  <a:schemeClr val="tx1"/>
                </a:solidFill>
              </a:rPr>
              <a:t>cannot be the main training signal</a:t>
            </a:r>
            <a:r>
              <a:rPr lang="en-US" sz="1600" dirty="0">
                <a:solidFill>
                  <a:schemeClr val="tx1"/>
                </a:solidFill>
              </a:rPr>
              <a:t>, but they can: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Calibrate thresholds (“what counts as degraded”),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Provide a slow “network view” feature for the </a:t>
            </a:r>
            <a:r>
              <a:rPr lang="en-US" sz="1600" dirty="0" err="1">
                <a:solidFill>
                  <a:schemeClr val="tx1"/>
                </a:solidFill>
              </a:rPr>
              <a:t>TinyML</a:t>
            </a:r>
            <a:r>
              <a:rPr lang="en-US" sz="1600" dirty="0">
                <a:solidFill>
                  <a:schemeClr val="tx1"/>
                </a:solidFill>
              </a:rPr>
              <a:t> model.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We explicitly agreed: 10 such feedback points/day are </a:t>
            </a:r>
            <a:r>
              <a:rPr lang="en-US" sz="1600" b="1" dirty="0">
                <a:solidFill>
                  <a:schemeClr val="tx1"/>
                </a:solidFill>
              </a:rPr>
              <a:t>too few for dense training</a:t>
            </a:r>
            <a:r>
              <a:rPr lang="en-US" sz="1600" dirty="0">
                <a:solidFill>
                  <a:schemeClr val="tx1"/>
                </a:solidFill>
              </a:rPr>
              <a:t>, but </a:t>
            </a:r>
            <a:r>
              <a:rPr lang="en-US" sz="1600" b="1" dirty="0">
                <a:solidFill>
                  <a:schemeClr val="tx1"/>
                </a:solidFill>
              </a:rPr>
              <a:t>fine for slow calibration and extra context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br>
              <a:rPr lang="en-US" sz="1600" dirty="0"/>
            </a:br>
            <a:br>
              <a:rPr lang="en-US" sz="1100" dirty="0"/>
            </a:b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227985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>
          <a:extLst>
            <a:ext uri="{FF2B5EF4-FFF2-40B4-BE49-F238E27FC236}">
              <a16:creationId xmlns:a16="http://schemas.microsoft.com/office/drawing/2014/main" id="{8630E1FD-1E26-F879-6244-8B72E6641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>
            <a:extLst>
              <a:ext uri="{FF2B5EF4-FFF2-40B4-BE49-F238E27FC236}">
                <a16:creationId xmlns:a16="http://schemas.microsoft.com/office/drawing/2014/main" id="{9B7D44EA-03F3-DE8B-A681-515F0C1CA3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sp>
        <p:nvSpPr>
          <p:cNvPr id="337" name="Google Shape;337;p50">
            <a:extLst>
              <a:ext uri="{FF2B5EF4-FFF2-40B4-BE49-F238E27FC236}">
                <a16:creationId xmlns:a16="http://schemas.microsoft.com/office/drawing/2014/main" id="{5B389211-105F-66CA-32F6-FC6779376F5F}"/>
              </a:ext>
            </a:extLst>
          </p:cNvPr>
          <p:cNvSpPr/>
          <p:nvPr/>
        </p:nvSpPr>
        <p:spPr>
          <a:xfrm>
            <a:off x="54427" y="391140"/>
            <a:ext cx="4837175" cy="71081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0" b="0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50">
            <a:extLst>
              <a:ext uri="{FF2B5EF4-FFF2-40B4-BE49-F238E27FC236}">
                <a16:creationId xmlns:a16="http://schemas.microsoft.com/office/drawing/2014/main" id="{5FACDFED-E538-392A-E4BD-951C11A987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3628" y="4724177"/>
            <a:ext cx="874088" cy="34584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>
            <a:extLst>
              <a:ext uri="{FF2B5EF4-FFF2-40B4-BE49-F238E27FC236}">
                <a16:creationId xmlns:a16="http://schemas.microsoft.com/office/drawing/2014/main" id="{159027A0-7C3B-E3C1-8CD6-28D60EF3DEFA}"/>
              </a:ext>
            </a:extLst>
          </p:cNvPr>
          <p:cNvSpPr txBox="1"/>
          <p:nvPr/>
        </p:nvSpPr>
        <p:spPr>
          <a:xfrm>
            <a:off x="54426" y="138593"/>
            <a:ext cx="4890267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lang="en-US" sz="1600" b="1" dirty="0" err="1">
                <a:solidFill>
                  <a:schemeClr val="tx1"/>
                </a:solidFill>
              </a:rPr>
              <a:t>TinyML</a:t>
            </a:r>
            <a:r>
              <a:rPr lang="en-US" sz="1600" b="1" dirty="0">
                <a:solidFill>
                  <a:schemeClr val="tx1"/>
                </a:solidFill>
              </a:rPr>
              <a:t> on the node: what it actually does: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0">
            <a:extLst>
              <a:ext uri="{FF2B5EF4-FFF2-40B4-BE49-F238E27FC236}">
                <a16:creationId xmlns:a16="http://schemas.microsoft.com/office/drawing/2014/main" id="{B677A3B9-BA57-E5FD-E169-0A78B6653922}"/>
              </a:ext>
            </a:extLst>
          </p:cNvPr>
          <p:cNvSpPr txBox="1"/>
          <p:nvPr/>
        </p:nvSpPr>
        <p:spPr>
          <a:xfrm>
            <a:off x="2335838" y="4840002"/>
            <a:ext cx="7406206" cy="25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/>
          <a:p>
            <a:pPr lvl="0"/>
            <a:r>
              <a:rPr lang="en-US" sz="800" i="1" dirty="0"/>
              <a:t>Decentralized Edge Intelligence for LoRaWAN: Federated Learning for Environment-Driven Path Loss and Link Quality Modeling</a:t>
            </a:r>
            <a:endParaRPr sz="600" dirty="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50">
            <a:extLst>
              <a:ext uri="{FF2B5EF4-FFF2-40B4-BE49-F238E27FC236}">
                <a16:creationId xmlns:a16="http://schemas.microsoft.com/office/drawing/2014/main" id="{F951513A-BA9E-1D6C-CFF1-8A8E8C66B784}"/>
              </a:ext>
            </a:extLst>
          </p:cNvPr>
          <p:cNvSpPr txBox="1"/>
          <p:nvPr/>
        </p:nvSpPr>
        <p:spPr>
          <a:xfrm>
            <a:off x="7494612" y="49543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0">
            <a:extLst>
              <a:ext uri="{FF2B5EF4-FFF2-40B4-BE49-F238E27FC236}">
                <a16:creationId xmlns:a16="http://schemas.microsoft.com/office/drawing/2014/main" id="{90E9D7DC-A743-780F-6FA6-78025C73E473}"/>
              </a:ext>
            </a:extLst>
          </p:cNvPr>
          <p:cNvSpPr txBox="1"/>
          <p:nvPr/>
        </p:nvSpPr>
        <p:spPr>
          <a:xfrm>
            <a:off x="0" y="468650"/>
            <a:ext cx="9144000" cy="838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Run a small model on-device to predict current path loss / link state and make communication‑aware decisions (when/how often to transmit), and to produce local model updates for federated learning.</a:t>
            </a:r>
          </a:p>
          <a:p>
            <a:br>
              <a:rPr lang="en-US" sz="1100" dirty="0"/>
            </a:br>
            <a:endParaRPr sz="1100" dirty="0"/>
          </a:p>
        </p:txBody>
      </p:sp>
      <p:pic>
        <p:nvPicPr>
          <p:cNvPr id="1026" name="Picture 2" descr="Node Sensing + TinyML Inference Flowchart — MKR WAN 1310">
            <a:extLst>
              <a:ext uri="{FF2B5EF4-FFF2-40B4-BE49-F238E27FC236}">
                <a16:creationId xmlns:a16="http://schemas.microsoft.com/office/drawing/2014/main" id="{5C7BE965-12D4-52BD-A5B0-902AD81F9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014" y="959677"/>
            <a:ext cx="3240187" cy="383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03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>
          <a:extLst>
            <a:ext uri="{FF2B5EF4-FFF2-40B4-BE49-F238E27FC236}">
              <a16:creationId xmlns:a16="http://schemas.microsoft.com/office/drawing/2014/main" id="{7BBDB32E-E2DB-CCB4-9A63-2D0197DAA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>
            <a:extLst>
              <a:ext uri="{FF2B5EF4-FFF2-40B4-BE49-F238E27FC236}">
                <a16:creationId xmlns:a16="http://schemas.microsoft.com/office/drawing/2014/main" id="{9F03382A-ACE0-1698-11F8-CC6D216556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sp>
        <p:nvSpPr>
          <p:cNvPr id="337" name="Google Shape;337;p50">
            <a:extLst>
              <a:ext uri="{FF2B5EF4-FFF2-40B4-BE49-F238E27FC236}">
                <a16:creationId xmlns:a16="http://schemas.microsoft.com/office/drawing/2014/main" id="{EDB6FDAE-351B-BF73-B308-4BF95A6EED6D}"/>
              </a:ext>
            </a:extLst>
          </p:cNvPr>
          <p:cNvSpPr/>
          <p:nvPr/>
        </p:nvSpPr>
        <p:spPr>
          <a:xfrm>
            <a:off x="54427" y="391140"/>
            <a:ext cx="4837175" cy="71081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0" b="0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50">
            <a:extLst>
              <a:ext uri="{FF2B5EF4-FFF2-40B4-BE49-F238E27FC236}">
                <a16:creationId xmlns:a16="http://schemas.microsoft.com/office/drawing/2014/main" id="{21943A96-9570-E66E-1CD7-F522014661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3628" y="4724177"/>
            <a:ext cx="874088" cy="34584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>
            <a:extLst>
              <a:ext uri="{FF2B5EF4-FFF2-40B4-BE49-F238E27FC236}">
                <a16:creationId xmlns:a16="http://schemas.microsoft.com/office/drawing/2014/main" id="{D763A106-3524-4450-631E-834214B7E4A3}"/>
              </a:ext>
            </a:extLst>
          </p:cNvPr>
          <p:cNvSpPr txBox="1"/>
          <p:nvPr/>
        </p:nvSpPr>
        <p:spPr>
          <a:xfrm>
            <a:off x="54427" y="125698"/>
            <a:ext cx="4890267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Where the ground truth / labels come from now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0">
            <a:extLst>
              <a:ext uri="{FF2B5EF4-FFF2-40B4-BE49-F238E27FC236}">
                <a16:creationId xmlns:a16="http://schemas.microsoft.com/office/drawing/2014/main" id="{B682DE2E-53AB-8BE8-3D76-244A49BF9052}"/>
              </a:ext>
            </a:extLst>
          </p:cNvPr>
          <p:cNvSpPr txBox="1"/>
          <p:nvPr/>
        </p:nvSpPr>
        <p:spPr>
          <a:xfrm>
            <a:off x="2335838" y="4840002"/>
            <a:ext cx="7406206" cy="25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/>
          <a:p>
            <a:pPr lvl="0"/>
            <a:r>
              <a:rPr lang="en-US" sz="800" i="1" dirty="0"/>
              <a:t>Decentralized Edge Intelligence for LoRaWAN: Federated Learning for Environment-Driven Path Loss and Link Quality Modeling</a:t>
            </a:r>
            <a:endParaRPr sz="600" dirty="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50">
            <a:extLst>
              <a:ext uri="{FF2B5EF4-FFF2-40B4-BE49-F238E27FC236}">
                <a16:creationId xmlns:a16="http://schemas.microsoft.com/office/drawing/2014/main" id="{B06CE153-BC91-2C2C-D389-0C4A3866A525}"/>
              </a:ext>
            </a:extLst>
          </p:cNvPr>
          <p:cNvSpPr txBox="1"/>
          <p:nvPr/>
        </p:nvSpPr>
        <p:spPr>
          <a:xfrm>
            <a:off x="7494612" y="49543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0">
            <a:extLst>
              <a:ext uri="{FF2B5EF4-FFF2-40B4-BE49-F238E27FC236}">
                <a16:creationId xmlns:a16="http://schemas.microsoft.com/office/drawing/2014/main" id="{F0364B9D-DEE3-167B-2599-7160F99DF73D}"/>
              </a:ext>
            </a:extLst>
          </p:cNvPr>
          <p:cNvSpPr txBox="1"/>
          <p:nvPr/>
        </p:nvSpPr>
        <p:spPr>
          <a:xfrm>
            <a:off x="191000" y="462221"/>
            <a:ext cx="9144000" cy="4562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We clarified a critical point: </a:t>
            </a:r>
            <a:r>
              <a:rPr lang="en-US" b="1" dirty="0">
                <a:solidFill>
                  <a:schemeClr val="tx1"/>
                </a:solidFill>
              </a:rPr>
              <a:t>nodes do not need the old 1.3M‑row dataset during deployment.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The old dataset is used </a:t>
            </a:r>
            <a:r>
              <a:rPr lang="en-US" b="1" dirty="0">
                <a:solidFill>
                  <a:schemeClr val="tx1"/>
                </a:solidFill>
              </a:rPr>
              <a:t>offline</a:t>
            </a:r>
            <a:r>
              <a:rPr lang="en-US" dirty="0">
                <a:solidFill>
                  <a:schemeClr val="tx1"/>
                </a:solidFill>
              </a:rPr>
              <a:t> to: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     Train a strong centralized </a:t>
            </a:r>
            <a:r>
              <a:rPr lang="en-US" b="1" dirty="0">
                <a:solidFill>
                  <a:schemeClr val="tx1"/>
                </a:solidFill>
              </a:rPr>
              <a:t>teacher</a:t>
            </a:r>
            <a:r>
              <a:rPr lang="en-US" dirty="0">
                <a:solidFill>
                  <a:schemeClr val="tx1"/>
                </a:solidFill>
              </a:rPr>
              <a:t> (</a:t>
            </a:r>
            <a:r>
              <a:rPr lang="en-US" dirty="0" err="1">
                <a:solidFill>
                  <a:schemeClr val="tx1"/>
                </a:solidFill>
              </a:rPr>
              <a:t>XGBoost</a:t>
            </a:r>
            <a:r>
              <a:rPr lang="en-US" dirty="0">
                <a:solidFill>
                  <a:schemeClr val="tx1"/>
                </a:solidFill>
              </a:rPr>
              <a:t>).​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     Distill an initial </a:t>
            </a:r>
            <a:r>
              <a:rPr lang="en-US" dirty="0" err="1">
                <a:solidFill>
                  <a:schemeClr val="tx1"/>
                </a:solidFill>
              </a:rPr>
              <a:t>TinyML</a:t>
            </a:r>
            <a:r>
              <a:rPr lang="en-US" dirty="0">
                <a:solidFill>
                  <a:schemeClr val="tx1"/>
                </a:solidFill>
              </a:rPr>
              <a:t> </a:t>
            </a:r>
            <a:r>
              <a:rPr lang="en-US" b="1" dirty="0">
                <a:solidFill>
                  <a:schemeClr val="tx1"/>
                </a:solidFill>
              </a:rPr>
              <a:t>student</a:t>
            </a:r>
            <a:r>
              <a:rPr lang="en-US" dirty="0">
                <a:solidFill>
                  <a:schemeClr val="tx1"/>
                </a:solidFill>
              </a:rPr>
              <a:t> model.​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     Provide central </a:t>
            </a:r>
            <a:r>
              <a:rPr lang="en-US" b="1" dirty="0">
                <a:solidFill>
                  <a:schemeClr val="tx1"/>
                </a:solidFill>
              </a:rPr>
              <a:t>baselines</a:t>
            </a:r>
            <a:r>
              <a:rPr lang="en-US" dirty="0">
                <a:solidFill>
                  <a:schemeClr val="tx1"/>
                </a:solidFill>
              </a:rPr>
              <a:t> (accuracy, RMSE) for your evaluation.</a:t>
            </a:r>
          </a:p>
          <a:p>
            <a:r>
              <a:rPr lang="en-US" dirty="0">
                <a:solidFill>
                  <a:schemeClr val="tx1"/>
                </a:solidFill>
              </a:rPr>
              <a:t>During live FL, nodes use </a:t>
            </a:r>
            <a:r>
              <a:rPr lang="en-US" b="1" dirty="0">
                <a:solidFill>
                  <a:schemeClr val="tx1"/>
                </a:solidFill>
              </a:rPr>
              <a:t>proxy labels</a:t>
            </a:r>
            <a:r>
              <a:rPr lang="en-US" dirty="0">
                <a:solidFill>
                  <a:schemeClr val="tx1"/>
                </a:solidFill>
              </a:rPr>
              <a:t>, e.g.:​​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For </a:t>
            </a:r>
            <a:r>
              <a:rPr lang="en-US" b="1" dirty="0">
                <a:solidFill>
                  <a:schemeClr val="tx1"/>
                </a:solidFill>
              </a:rPr>
              <a:t>link state classification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               “Good” = downlink/ACK received.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               “Degraded” or “poor” = repeated missed downlinks, low PDR.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For </a:t>
            </a:r>
            <a:r>
              <a:rPr lang="en-US" b="1" dirty="0">
                <a:solidFill>
                  <a:schemeClr val="tx1"/>
                </a:solidFill>
              </a:rPr>
              <a:t>path loss regression</a:t>
            </a:r>
            <a:r>
              <a:rPr lang="en-US" dirty="0">
                <a:solidFill>
                  <a:schemeClr val="tx1"/>
                </a:solidFill>
              </a:rPr>
              <a:t> (harder):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              Use TX power minus occasional downlink RSSI as a rough path-loss estimate, or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              Occasionally query server inference (teacher model) and treat those as pseudo-labels.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lvl="2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So live FL is </a:t>
            </a:r>
            <a:r>
              <a:rPr lang="en-US" b="1" dirty="0">
                <a:solidFill>
                  <a:schemeClr val="tx1"/>
                </a:solidFill>
              </a:rPr>
              <a:t>self‑contained</a:t>
            </a:r>
            <a:r>
              <a:rPr lang="en-US" dirty="0">
                <a:solidFill>
                  <a:schemeClr val="tx1"/>
                </a:solidFill>
              </a:rPr>
              <a:t>, using online proxy labels; old data is for </a:t>
            </a:r>
            <a:r>
              <a:rPr lang="en-US" b="1" dirty="0">
                <a:solidFill>
                  <a:schemeClr val="tx1"/>
                </a:solidFill>
              </a:rPr>
              <a:t>pretraining and benchmarking</a:t>
            </a:r>
            <a:r>
              <a:rPr lang="en-US" dirty="0">
                <a:solidFill>
                  <a:schemeClr val="tx1"/>
                </a:solidFill>
              </a:rPr>
              <a:t>, not for continuous streaming</a:t>
            </a:r>
          </a:p>
          <a:p>
            <a:br>
              <a:rPr lang="en-US" sz="1600" dirty="0"/>
            </a:br>
            <a:br>
              <a:rPr lang="en-US" sz="1100" dirty="0"/>
            </a:br>
            <a:r>
              <a:rPr lang="en-US" sz="1100" dirty="0"/>
              <a:t> 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265538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>
          <a:extLst>
            <a:ext uri="{FF2B5EF4-FFF2-40B4-BE49-F238E27FC236}">
              <a16:creationId xmlns:a16="http://schemas.microsoft.com/office/drawing/2014/main" id="{12EEE774-6021-AD99-CD6B-C5D1E110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>
            <a:extLst>
              <a:ext uri="{FF2B5EF4-FFF2-40B4-BE49-F238E27FC236}">
                <a16:creationId xmlns:a16="http://schemas.microsoft.com/office/drawing/2014/main" id="{323F2F73-2D53-D1DD-11AF-09397FF9EF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14438" y="4840002"/>
            <a:ext cx="216936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sp>
        <p:nvSpPr>
          <p:cNvPr id="337" name="Google Shape;337;p50">
            <a:extLst>
              <a:ext uri="{FF2B5EF4-FFF2-40B4-BE49-F238E27FC236}">
                <a16:creationId xmlns:a16="http://schemas.microsoft.com/office/drawing/2014/main" id="{AC2C464B-1ACA-9E98-74D4-9A94E3FEC70D}"/>
              </a:ext>
            </a:extLst>
          </p:cNvPr>
          <p:cNvSpPr/>
          <p:nvPr/>
        </p:nvSpPr>
        <p:spPr>
          <a:xfrm>
            <a:off x="54427" y="391140"/>
            <a:ext cx="4837175" cy="71081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0" b="0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50">
            <a:extLst>
              <a:ext uri="{FF2B5EF4-FFF2-40B4-BE49-F238E27FC236}">
                <a16:creationId xmlns:a16="http://schemas.microsoft.com/office/drawing/2014/main" id="{F44C8839-BD48-FB1C-BA35-7EF49CCA31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3628" y="4724177"/>
            <a:ext cx="874088" cy="34584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>
            <a:extLst>
              <a:ext uri="{FF2B5EF4-FFF2-40B4-BE49-F238E27FC236}">
                <a16:creationId xmlns:a16="http://schemas.microsoft.com/office/drawing/2014/main" id="{BA0E12B5-C697-FC23-3964-DC590173D53F}"/>
              </a:ext>
            </a:extLst>
          </p:cNvPr>
          <p:cNvSpPr txBox="1"/>
          <p:nvPr/>
        </p:nvSpPr>
        <p:spPr>
          <a:xfrm>
            <a:off x="54427" y="125698"/>
            <a:ext cx="4890267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Literature anchors: 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0">
            <a:extLst>
              <a:ext uri="{FF2B5EF4-FFF2-40B4-BE49-F238E27FC236}">
                <a16:creationId xmlns:a16="http://schemas.microsoft.com/office/drawing/2014/main" id="{11181799-7B09-90CB-406F-A0B32CB15C2E}"/>
              </a:ext>
            </a:extLst>
          </p:cNvPr>
          <p:cNvSpPr txBox="1"/>
          <p:nvPr/>
        </p:nvSpPr>
        <p:spPr>
          <a:xfrm>
            <a:off x="2335838" y="4840002"/>
            <a:ext cx="7406206" cy="25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/>
          <a:p>
            <a:pPr lvl="0"/>
            <a:r>
              <a:rPr lang="en-US" sz="800" i="1" dirty="0"/>
              <a:t>Decentralized Edge Intelligence for LoRaWAN: Federated Learning for Environment-Driven Path Loss and Link Quality Modeling</a:t>
            </a:r>
            <a:endParaRPr sz="600" dirty="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50">
            <a:extLst>
              <a:ext uri="{FF2B5EF4-FFF2-40B4-BE49-F238E27FC236}">
                <a16:creationId xmlns:a16="http://schemas.microsoft.com/office/drawing/2014/main" id="{7A450536-5518-36A0-F7C9-823D5C7947CA}"/>
              </a:ext>
            </a:extLst>
          </p:cNvPr>
          <p:cNvSpPr txBox="1"/>
          <p:nvPr/>
        </p:nvSpPr>
        <p:spPr>
          <a:xfrm>
            <a:off x="7494612" y="4954314"/>
            <a:ext cx="11340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0">
            <a:extLst>
              <a:ext uri="{FF2B5EF4-FFF2-40B4-BE49-F238E27FC236}">
                <a16:creationId xmlns:a16="http://schemas.microsoft.com/office/drawing/2014/main" id="{35883E80-23BA-DE4A-040D-6AD6D834F4CB}"/>
              </a:ext>
            </a:extLst>
          </p:cNvPr>
          <p:cNvSpPr txBox="1"/>
          <p:nvPr/>
        </p:nvSpPr>
        <p:spPr>
          <a:xfrm>
            <a:off x="98084" y="361431"/>
            <a:ext cx="8679513" cy="5162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endParaRPr lang="en-US" sz="1000" b="1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chemeClr val="tx1"/>
                </a:solidFill>
              </a:rPr>
              <a:t>FL + </a:t>
            </a:r>
            <a:r>
              <a:rPr lang="en-US" sz="1100" b="1" dirty="0" err="1">
                <a:solidFill>
                  <a:schemeClr val="tx1"/>
                </a:solidFill>
              </a:rPr>
              <a:t>TinyML</a:t>
            </a:r>
            <a:r>
              <a:rPr lang="en-US" sz="1100" b="1" dirty="0">
                <a:solidFill>
                  <a:schemeClr val="tx1"/>
                </a:solidFill>
              </a:rPr>
              <a:t> on IoT MCUs</a:t>
            </a:r>
            <a:r>
              <a:rPr lang="en-US" sz="1100" dirty="0">
                <a:solidFill>
                  <a:schemeClr val="tx1"/>
                </a:solidFill>
              </a:rPr>
              <a:t> (surveys, techniques).</a:t>
            </a:r>
          </a:p>
          <a:p>
            <a:r>
              <a:rPr lang="en-US" sz="1000" dirty="0">
                <a:solidFill>
                  <a:schemeClr val="tx1"/>
                </a:solidFill>
              </a:rPr>
              <a:t>**** Y. Hasan </a:t>
            </a:r>
            <a:r>
              <a:rPr lang="en-US" sz="1000" i="1" dirty="0">
                <a:solidFill>
                  <a:schemeClr val="tx1"/>
                </a:solidFill>
              </a:rPr>
              <a:t>et al.</a:t>
            </a:r>
            <a:r>
              <a:rPr lang="en-US" sz="1000" dirty="0">
                <a:solidFill>
                  <a:schemeClr val="tx1"/>
                </a:solidFill>
              </a:rPr>
              <a:t>, "Federated learning and </a:t>
            </a:r>
            <a:r>
              <a:rPr lang="en-US" sz="1000" dirty="0" err="1">
                <a:solidFill>
                  <a:schemeClr val="tx1"/>
                </a:solidFill>
              </a:rPr>
              <a:t>TinyML</a:t>
            </a:r>
            <a:r>
              <a:rPr lang="en-US" sz="1000" dirty="0">
                <a:solidFill>
                  <a:schemeClr val="tx1"/>
                </a:solidFill>
              </a:rPr>
              <a:t> on IoT edge devices: Challenges, advances, and future directions," </a:t>
            </a:r>
            <a:r>
              <a:rPr lang="en-US" sz="1000" i="1" dirty="0">
                <a:solidFill>
                  <a:schemeClr val="tx1"/>
                </a:solidFill>
              </a:rPr>
              <a:t>ICT Express</a:t>
            </a:r>
            <a:r>
              <a:rPr lang="en-US" sz="1000" dirty="0">
                <a:solidFill>
                  <a:schemeClr val="tx1"/>
                </a:solidFill>
              </a:rPr>
              <a:t>, vol. 11, no. 4, pp. 754–768, Aug. 2025.​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🔗 </a:t>
            </a:r>
            <a:r>
              <a:rPr lang="en-US" sz="10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https://www.sciencedirect.com/science/article/pii/S2405959525000839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**** A. Casolo and S. Russo, "Federated learning for IoT devices: Enhancing </a:t>
            </a:r>
            <a:r>
              <a:rPr lang="en-US" sz="1000" dirty="0" err="1">
                <a:solidFill>
                  <a:schemeClr val="tx1"/>
                </a:solidFill>
              </a:rPr>
              <a:t>TinyML</a:t>
            </a:r>
            <a:r>
              <a:rPr lang="en-US" sz="1000" dirty="0">
                <a:solidFill>
                  <a:schemeClr val="tx1"/>
                </a:solidFill>
              </a:rPr>
              <a:t> with on-board training," </a:t>
            </a:r>
            <a:r>
              <a:rPr lang="en-US" sz="1000" i="1" dirty="0">
                <a:solidFill>
                  <a:schemeClr val="tx1"/>
                </a:solidFill>
              </a:rPr>
              <a:t>Information Fusion</a:t>
            </a:r>
            <a:r>
              <a:rPr lang="en-US" sz="1000" dirty="0">
                <a:solidFill>
                  <a:schemeClr val="tx1"/>
                </a:solidFill>
              </a:rPr>
              <a:t>, vol. 104, p. 102189, 2024.​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🔗 </a:t>
            </a:r>
            <a:r>
              <a:rPr lang="en-US" sz="100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https://dl.acm.org/doi/10.1016/j.inffus.2023.102189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**** M. Alrifai </a:t>
            </a:r>
            <a:r>
              <a:rPr lang="en-US" sz="1000" i="1" dirty="0">
                <a:solidFill>
                  <a:schemeClr val="tx1"/>
                </a:solidFill>
              </a:rPr>
              <a:t>et al.</a:t>
            </a:r>
            <a:r>
              <a:rPr lang="en-US" sz="1000" dirty="0">
                <a:solidFill>
                  <a:schemeClr val="tx1"/>
                </a:solidFill>
              </a:rPr>
              <a:t>, "A Survey on Federated Learning for </a:t>
            </a:r>
            <a:r>
              <a:rPr lang="en-US" sz="1000" dirty="0" err="1">
                <a:solidFill>
                  <a:schemeClr val="tx1"/>
                </a:solidFill>
              </a:rPr>
              <a:t>TinyML</a:t>
            </a:r>
            <a:r>
              <a:rPr lang="en-US" sz="1000" dirty="0">
                <a:solidFill>
                  <a:schemeClr val="tx1"/>
                </a:solidFill>
              </a:rPr>
              <a:t>: Challenges, Techniques, and Future Directions," </a:t>
            </a:r>
            <a:r>
              <a:rPr lang="en-US" sz="1000" i="1" dirty="0" err="1">
                <a:solidFill>
                  <a:schemeClr val="tx1"/>
                </a:solidFill>
              </a:rPr>
              <a:t>Zenodo</a:t>
            </a:r>
            <a:r>
              <a:rPr lang="en-US" sz="1000" dirty="0">
                <a:solidFill>
                  <a:schemeClr val="tx1"/>
                </a:solidFill>
              </a:rPr>
              <a:t>, Apr. 2025, </a:t>
            </a:r>
            <a:r>
              <a:rPr lang="en-US" sz="1000" dirty="0" err="1">
                <a:solidFill>
                  <a:schemeClr val="tx1"/>
                </a:solidFill>
              </a:rPr>
              <a:t>doi</a:t>
            </a:r>
            <a:r>
              <a:rPr lang="en-US" sz="1000" dirty="0">
                <a:solidFill>
                  <a:schemeClr val="tx1"/>
                </a:solidFill>
              </a:rPr>
              <a:t>: 10.5281/zenodo.15240508.​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🔗 </a:t>
            </a:r>
            <a:r>
              <a:rPr lang="en-US" sz="1000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https://zenodo.org/records/15240508</a:t>
            </a:r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chemeClr val="tx1"/>
                </a:solidFill>
              </a:rPr>
              <a:t>FL over LoRa / LoRaWAN</a:t>
            </a:r>
            <a:r>
              <a:rPr lang="en-US" sz="1000" dirty="0">
                <a:solidFill>
                  <a:schemeClr val="tx1"/>
                </a:solidFill>
              </a:rPr>
              <a:t> (case studies, simulators).</a:t>
            </a:r>
            <a:endParaRPr lang="en-US" sz="11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**** O. Torres Sanchez </a:t>
            </a:r>
            <a:r>
              <a:rPr lang="en-US" sz="1000" i="1" dirty="0">
                <a:solidFill>
                  <a:schemeClr val="tx1"/>
                </a:solidFill>
              </a:rPr>
              <a:t>et al.</a:t>
            </a:r>
            <a:r>
              <a:rPr lang="en-US" sz="1000" dirty="0">
                <a:solidFill>
                  <a:schemeClr val="tx1"/>
                </a:solidFill>
              </a:rPr>
              <a:t>, "Federated Learning framework for LoRaWAN-enabled </a:t>
            </a:r>
            <a:r>
              <a:rPr lang="en-US" sz="1000" dirty="0" err="1">
                <a:solidFill>
                  <a:schemeClr val="tx1"/>
                </a:solidFill>
              </a:rPr>
              <a:t>IIoT</a:t>
            </a:r>
            <a:r>
              <a:rPr lang="en-US" sz="1000" dirty="0">
                <a:solidFill>
                  <a:schemeClr val="tx1"/>
                </a:solidFill>
              </a:rPr>
              <a:t> communication: A case study," </a:t>
            </a:r>
            <a:r>
              <a:rPr lang="en-US" sz="1000" i="1" dirty="0" err="1">
                <a:solidFill>
                  <a:schemeClr val="tx1"/>
                </a:solidFill>
              </a:rPr>
              <a:t>arXiv</a:t>
            </a:r>
            <a:r>
              <a:rPr lang="en-US" sz="1000" dirty="0">
                <a:solidFill>
                  <a:schemeClr val="tx1"/>
                </a:solidFill>
              </a:rPr>
              <a:t>, Oct. 2024, arXiv:2410.11612.​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🔗 </a:t>
            </a:r>
            <a:r>
              <a:rPr lang="en-US" sz="1000" dirty="0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https://arxiv.org/abs/2410.11612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**** N. </a:t>
            </a:r>
            <a:r>
              <a:rPr lang="en-US" sz="1000" dirty="0" err="1">
                <a:solidFill>
                  <a:schemeClr val="tx1"/>
                </a:solidFill>
              </a:rPr>
              <a:t>Llisterri</a:t>
            </a:r>
            <a:r>
              <a:rPr lang="en-US" sz="1000" dirty="0">
                <a:solidFill>
                  <a:schemeClr val="tx1"/>
                </a:solidFill>
              </a:rPr>
              <a:t> Giménez </a:t>
            </a:r>
            <a:r>
              <a:rPr lang="en-US" sz="1000" i="1" dirty="0">
                <a:solidFill>
                  <a:schemeClr val="tx1"/>
                </a:solidFill>
              </a:rPr>
              <a:t>et al.</a:t>
            </a:r>
            <a:r>
              <a:rPr lang="en-US" sz="1000" dirty="0">
                <a:solidFill>
                  <a:schemeClr val="tx1"/>
                </a:solidFill>
              </a:rPr>
              <a:t>, "Embedded federated learning over a LoRa mesh network," </a:t>
            </a:r>
            <a:r>
              <a:rPr lang="en-US" sz="1000" i="1" dirty="0">
                <a:solidFill>
                  <a:schemeClr val="tx1"/>
                </a:solidFill>
              </a:rPr>
              <a:t>Pervasive and Mobile Computing</a:t>
            </a:r>
            <a:r>
              <a:rPr lang="en-US" sz="1000" dirty="0">
                <a:solidFill>
                  <a:schemeClr val="tx1"/>
                </a:solidFill>
              </a:rPr>
              <a:t>, vol. 93, p. 101819, Jun. 2023.​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🔗 </a:t>
            </a:r>
            <a:r>
              <a:rPr lang="en-US" sz="1000" dirty="0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https://www.sciencedirect.com/article/pii/S1574119223000779</a:t>
            </a:r>
            <a:endParaRPr lang="en-US" sz="1000" dirty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100" b="1" dirty="0" err="1">
                <a:solidFill>
                  <a:schemeClr val="tx1"/>
                </a:solidFill>
              </a:rPr>
              <a:t>TinyML</a:t>
            </a:r>
            <a:r>
              <a:rPr lang="en-US" sz="1100" b="1" dirty="0">
                <a:solidFill>
                  <a:schemeClr val="tx1"/>
                </a:solidFill>
              </a:rPr>
              <a:t> on MCUs</a:t>
            </a:r>
            <a:r>
              <a:rPr lang="en-US" sz="1100" dirty="0">
                <a:solidFill>
                  <a:schemeClr val="tx1"/>
                </a:solidFill>
              </a:rPr>
              <a:t> (on-device inference, distillation, compression).</a:t>
            </a:r>
          </a:p>
          <a:p>
            <a:r>
              <a:rPr lang="en-US" sz="1000" dirty="0">
                <a:solidFill>
                  <a:schemeClr val="tx1"/>
                </a:solidFill>
              </a:rPr>
              <a:t>**** S. Heydari and Q. H. Mahmoud, "Tiny Machine Learning and On-Device Inference: A Survey of Real-World Applications," </a:t>
            </a:r>
            <a:r>
              <a:rPr lang="en-US" sz="1000" i="1" dirty="0">
                <a:solidFill>
                  <a:schemeClr val="tx1"/>
                </a:solidFill>
              </a:rPr>
              <a:t>Sensors</a:t>
            </a:r>
            <a:r>
              <a:rPr lang="en-US" sz="1000" dirty="0">
                <a:solidFill>
                  <a:schemeClr val="tx1"/>
                </a:solidFill>
              </a:rPr>
              <a:t>, vol. 25, no. 10, p. 3191, May 2025, </a:t>
            </a:r>
            <a:r>
              <a:rPr lang="en-US" sz="1000" dirty="0" err="1">
                <a:solidFill>
                  <a:schemeClr val="tx1"/>
                </a:solidFill>
              </a:rPr>
              <a:t>doi</a:t>
            </a:r>
            <a:r>
              <a:rPr lang="en-US" sz="1000" dirty="0">
                <a:solidFill>
                  <a:schemeClr val="tx1"/>
                </a:solidFill>
              </a:rPr>
              <a:t>: 10.3390/s25103191.​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🔗 </a:t>
            </a:r>
            <a:r>
              <a:rPr lang="en-US" sz="1000" dirty="0">
                <a:solidFill>
                  <a:schemeClr val="tx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https://pmc.ncbi.nlm.nih.gov/articles/PMC12115890/</a:t>
            </a:r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**** N. N. </a:t>
            </a:r>
            <a:r>
              <a:rPr lang="en-US" sz="1000" dirty="0" err="1">
                <a:solidFill>
                  <a:schemeClr val="tx1"/>
                </a:solidFill>
              </a:rPr>
              <a:t>Alajlan</a:t>
            </a:r>
            <a:r>
              <a:rPr lang="en-US" sz="1000" dirty="0">
                <a:solidFill>
                  <a:schemeClr val="tx1"/>
                </a:solidFill>
              </a:rPr>
              <a:t> and D. M. Ibrahim, "</a:t>
            </a:r>
            <a:r>
              <a:rPr lang="en-US" sz="1000" dirty="0" err="1">
                <a:solidFill>
                  <a:schemeClr val="tx1"/>
                </a:solidFill>
              </a:rPr>
              <a:t>TinyML</a:t>
            </a:r>
            <a:r>
              <a:rPr lang="en-US" sz="1000" dirty="0">
                <a:solidFill>
                  <a:schemeClr val="tx1"/>
                </a:solidFill>
              </a:rPr>
              <a:t>: Enabling of Inference Deep Learning Models on Ultra-Low-Power IoT Edge Devices for AI Applications," </a:t>
            </a:r>
            <a:r>
              <a:rPr lang="en-US" sz="1000" i="1" dirty="0">
                <a:solidFill>
                  <a:schemeClr val="tx1"/>
                </a:solidFill>
              </a:rPr>
              <a:t>Micromachines</a:t>
            </a:r>
            <a:r>
              <a:rPr lang="en-US" sz="1000" dirty="0">
                <a:solidFill>
                  <a:schemeClr val="tx1"/>
                </a:solidFill>
              </a:rPr>
              <a:t>, vol. 13, no. 6, p. 851, May 2022, </a:t>
            </a:r>
            <a:r>
              <a:rPr lang="en-US" sz="1000" dirty="0" err="1">
                <a:solidFill>
                  <a:schemeClr val="tx1"/>
                </a:solidFill>
              </a:rPr>
              <a:t>doi</a:t>
            </a:r>
            <a:r>
              <a:rPr lang="en-US" sz="1000" dirty="0">
                <a:solidFill>
                  <a:schemeClr val="tx1"/>
                </a:solidFill>
              </a:rPr>
              <a:t>: 10.3390/mi13060851.​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🔗 </a:t>
            </a:r>
            <a:r>
              <a:rPr lang="en-US" sz="1000" dirty="0">
                <a:solidFill>
                  <a:schemeClr val="tx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https://pmc.ncbi.nlm.nih.gov/articles/PMC9227753/</a:t>
            </a:r>
            <a:endParaRPr lang="en-US" sz="1000" dirty="0">
              <a:solidFill>
                <a:schemeClr val="tx1"/>
              </a:solidFill>
            </a:endParaRPr>
          </a:p>
          <a:p>
            <a:br>
              <a:rPr lang="en-US" sz="1000" dirty="0"/>
            </a:br>
            <a:endParaRPr lang="en-US" sz="1000" dirty="0">
              <a:solidFill>
                <a:schemeClr val="tx1"/>
              </a:solidFill>
            </a:endParaRPr>
          </a:p>
          <a:p>
            <a:br>
              <a:rPr lang="en-US" sz="1000" dirty="0"/>
            </a:br>
            <a:br>
              <a:rPr lang="en-US" sz="1000" dirty="0"/>
            </a:br>
            <a:br>
              <a:rPr lang="en-US" sz="1000" dirty="0"/>
            </a:br>
            <a:r>
              <a:rPr lang="en-US" sz="1000" dirty="0"/>
              <a:t> 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329378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Google Shape;90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038" y="1388849"/>
            <a:ext cx="7949925" cy="1901443"/>
          </a:xfrm>
          <a:prstGeom prst="rect">
            <a:avLst/>
          </a:prstGeom>
          <a:solidFill>
            <a:srgbClr val="002060"/>
          </a:solidFill>
          <a:ln>
            <a:noFill/>
          </a:ln>
        </p:spPr>
      </p:pic>
      <p:sp>
        <p:nvSpPr>
          <p:cNvPr id="3" name="Google Shape;510;p59">
            <a:extLst>
              <a:ext uri="{FF2B5EF4-FFF2-40B4-BE49-F238E27FC236}">
                <a16:creationId xmlns:a16="http://schemas.microsoft.com/office/drawing/2014/main" id="{4B612E4D-FC2D-35E9-A02A-591B3B69F8ED}"/>
              </a:ext>
            </a:extLst>
          </p:cNvPr>
          <p:cNvSpPr txBox="1"/>
          <p:nvPr/>
        </p:nvSpPr>
        <p:spPr>
          <a:xfrm>
            <a:off x="869046" y="4947382"/>
            <a:ext cx="7717500" cy="12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1" u="none" strike="noStrike" cap="none" dirty="0">
                <a:solidFill>
                  <a:srgbClr val="00385F"/>
                </a:solidFill>
                <a:latin typeface="Calibri"/>
                <a:ea typeface="Calibri"/>
                <a:cs typeface="Calibri"/>
                <a:sym typeface="Calibri"/>
              </a:rPr>
              <a:t> Obiri, N. M., &amp; Van </a:t>
            </a:r>
            <a:r>
              <a:rPr lang="en-GB" sz="700" b="0" i="1" u="none" strike="noStrike" cap="none" dirty="0" err="1">
                <a:solidFill>
                  <a:srgbClr val="00385F"/>
                </a:solidFill>
                <a:latin typeface="Calibri"/>
                <a:ea typeface="Calibri"/>
                <a:cs typeface="Calibri"/>
                <a:sym typeface="Calibri"/>
              </a:rPr>
              <a:t>Laerhoven</a:t>
            </a:r>
            <a:r>
              <a:rPr lang="en-GB" sz="700" b="0" i="1" u="none" strike="noStrike" cap="none" dirty="0">
                <a:solidFill>
                  <a:srgbClr val="00385F"/>
                </a:solidFill>
                <a:latin typeface="Calibri"/>
                <a:ea typeface="Calibri"/>
                <a:cs typeface="Calibri"/>
                <a:sym typeface="Calibri"/>
              </a:rPr>
              <a:t>, K. (2024). A Comprehensive Data Description for LoRaWAN Path Loss Measurements in an Indoor Office Setting. IEEE Access. DOI: 10.1109/ACCESS.2024.0429000</a:t>
            </a:r>
            <a:endParaRPr sz="700" b="0" i="1" u="none" strike="noStrike" cap="none" dirty="0">
              <a:solidFill>
                <a:srgbClr val="0038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513;p59">
            <a:extLst>
              <a:ext uri="{FF2B5EF4-FFF2-40B4-BE49-F238E27FC236}">
                <a16:creationId xmlns:a16="http://schemas.microsoft.com/office/drawing/2014/main" id="{C1E9A068-2819-7386-759E-2BC09AD93995}"/>
              </a:ext>
            </a:extLst>
          </p:cNvPr>
          <p:cNvSpPr/>
          <p:nvPr/>
        </p:nvSpPr>
        <p:spPr>
          <a:xfrm>
            <a:off x="478169" y="4603176"/>
            <a:ext cx="168973" cy="296989"/>
          </a:xfrm>
          <a:custGeom>
            <a:avLst/>
            <a:gdLst/>
            <a:ahLst/>
            <a:cxnLst/>
            <a:rect l="l" t="t" r="r" b="b"/>
            <a:pathLst>
              <a:path w="450596" h="791972" extrusionOk="0">
                <a:moveTo>
                  <a:pt x="0" y="0"/>
                </a:moveTo>
                <a:lnTo>
                  <a:pt x="450596" y="0"/>
                </a:lnTo>
                <a:lnTo>
                  <a:pt x="450596" y="791972"/>
                </a:lnTo>
                <a:lnTo>
                  <a:pt x="0" y="7919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13" r="-108" b="-2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ogle Shape;514;p59">
            <a:extLst>
              <a:ext uri="{FF2B5EF4-FFF2-40B4-BE49-F238E27FC236}">
                <a16:creationId xmlns:a16="http://schemas.microsoft.com/office/drawing/2014/main" id="{5D3EBBE0-7C22-FD4C-67E9-29AD70EB92EB}"/>
              </a:ext>
            </a:extLst>
          </p:cNvPr>
          <p:cNvSpPr/>
          <p:nvPr/>
        </p:nvSpPr>
        <p:spPr>
          <a:xfrm>
            <a:off x="647142" y="4594488"/>
            <a:ext cx="874110" cy="345852"/>
          </a:xfrm>
          <a:custGeom>
            <a:avLst/>
            <a:gdLst/>
            <a:ahLst/>
            <a:cxnLst/>
            <a:rect l="l" t="t" r="r" b="b"/>
            <a:pathLst>
              <a:path w="2330958" h="922274" extrusionOk="0">
                <a:moveTo>
                  <a:pt x="0" y="0"/>
                </a:moveTo>
                <a:lnTo>
                  <a:pt x="2330958" y="0"/>
                </a:lnTo>
                <a:lnTo>
                  <a:pt x="2330958" y="922274"/>
                </a:lnTo>
                <a:lnTo>
                  <a:pt x="0" y="922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r="1" b="2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517;p59">
            <a:extLst>
              <a:ext uri="{FF2B5EF4-FFF2-40B4-BE49-F238E27FC236}">
                <a16:creationId xmlns:a16="http://schemas.microsoft.com/office/drawing/2014/main" id="{194BAE30-7409-EACE-57E2-39AD62939F95}"/>
              </a:ext>
            </a:extLst>
          </p:cNvPr>
          <p:cNvSpPr txBox="1"/>
          <p:nvPr/>
        </p:nvSpPr>
        <p:spPr>
          <a:xfrm>
            <a:off x="7231380" y="10889"/>
            <a:ext cx="1796401" cy="27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rPr>
              <a:t>LoRaWAN in Indoor Office Environments: </a:t>
            </a:r>
            <a:r>
              <a:rPr lang="en-GB" sz="600" i="1" dirty="0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rPr>
              <a:t>Environmental Effects on Path Loss and Signal Reliability </a:t>
            </a:r>
          </a:p>
        </p:txBody>
      </p:sp>
      <p:sp>
        <p:nvSpPr>
          <p:cNvPr id="7" name="Google Shape;519;p59">
            <a:extLst>
              <a:ext uri="{FF2B5EF4-FFF2-40B4-BE49-F238E27FC236}">
                <a16:creationId xmlns:a16="http://schemas.microsoft.com/office/drawing/2014/main" id="{3CD0FE8E-C599-0EFC-D43F-AFEFE260BD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58211" y="4840012"/>
            <a:ext cx="2169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/>
              <a:t>9</a:t>
            </a:fld>
            <a:endParaRPr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D21CCC-C0DA-B886-8E56-B2DECA96CF0A}"/>
              </a:ext>
            </a:extLst>
          </p:cNvPr>
          <p:cNvSpPr txBox="1"/>
          <p:nvPr/>
        </p:nvSpPr>
        <p:spPr>
          <a:xfrm>
            <a:off x="8288641" y="246041"/>
            <a:ext cx="7391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en-GB" sz="800" dirty="0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rPr>
              <a:t>22.07.2025</a:t>
            </a:r>
          </a:p>
        </p:txBody>
      </p:sp>
      <p:sp>
        <p:nvSpPr>
          <p:cNvPr id="9" name="Google Shape;511;p59">
            <a:extLst>
              <a:ext uri="{FF2B5EF4-FFF2-40B4-BE49-F238E27FC236}">
                <a16:creationId xmlns:a16="http://schemas.microsoft.com/office/drawing/2014/main" id="{44A2B815-52E5-59F2-592A-7BC15C5F34E9}"/>
              </a:ext>
            </a:extLst>
          </p:cNvPr>
          <p:cNvSpPr/>
          <p:nvPr/>
        </p:nvSpPr>
        <p:spPr>
          <a:xfrm>
            <a:off x="194995" y="4602160"/>
            <a:ext cx="287555" cy="297000"/>
          </a:xfrm>
          <a:custGeom>
            <a:avLst/>
            <a:gdLst/>
            <a:ahLst/>
            <a:cxnLst/>
            <a:rect l="l" t="t" r="r" b="b"/>
            <a:pathLst>
              <a:path w="575110" h="594000" extrusionOk="0">
                <a:moveTo>
                  <a:pt x="0" y="0"/>
                </a:moveTo>
                <a:lnTo>
                  <a:pt x="575110" y="0"/>
                </a:lnTo>
                <a:lnTo>
                  <a:pt x="575110" y="594000"/>
                </a:lnTo>
                <a:lnTo>
                  <a:pt x="0" y="59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1" r="-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Fakultät_IV">
      <a:dk1>
        <a:srgbClr val="00385F"/>
      </a:dk1>
      <a:lt1>
        <a:srgbClr val="FFFFFF"/>
      </a:lt1>
      <a:dk2>
        <a:srgbClr val="FFFFFF"/>
      </a:dk2>
      <a:lt2>
        <a:srgbClr val="E7E6E6"/>
      </a:lt2>
      <a:accent1>
        <a:srgbClr val="00385F"/>
      </a:accent1>
      <a:accent2>
        <a:srgbClr val="5F5B93"/>
      </a:accent2>
      <a:accent3>
        <a:srgbClr val="A78EC2"/>
      </a:accent3>
      <a:accent4>
        <a:srgbClr val="657280"/>
      </a:accent4>
      <a:accent5>
        <a:srgbClr val="5F5B93"/>
      </a:accent5>
      <a:accent6>
        <a:srgbClr val="65728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1423</Words>
  <Application>Microsoft Office PowerPoint</Application>
  <PresentationFormat>On-screen Show (16:9)</PresentationFormat>
  <Paragraphs>114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Noto Sans Symbols</vt:lpstr>
      <vt:lpstr>Wingdings</vt:lpstr>
      <vt:lpstr>Courier New</vt:lpstr>
      <vt:lpstr>Simple Light</vt:lpstr>
      <vt:lpstr>Office</vt:lpstr>
      <vt:lpstr>Office Theme</vt:lpstr>
      <vt:lpstr>Decentralized Edge Intelligence for LoRaWAN:  Federated Learning for Environment-Driven Path Loss and Link Quality Modeling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Pratik Khadka</dc:creator>
  <cp:lastModifiedBy>Pratik Khadka</cp:lastModifiedBy>
  <cp:revision>15</cp:revision>
  <dcterms:modified xsi:type="dcterms:W3CDTF">2026-03-11T14:04:31Z</dcterms:modified>
</cp:coreProperties>
</file>